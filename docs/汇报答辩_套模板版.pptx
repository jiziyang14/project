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10"/>
  </p:notesMasterIdLst>
  <p:sldIdLst>
    <p:sldId id="256" r:id="rId8"/>
    <p:sldId id="257" r:id="rId9"/>
    <p:sldId id="258" r:id="rId7"/>
    <p:sldId id="259" r:id="rId6"/>
    <p:sldId id="260" r:id="rId5"/>
    <p:sldId id="261" r:id="rId4"/>
    <p:sldId id="262" r:id="rId3"/>
    <p:sldId id="263" r:id="rId2"/>
    <p:sldId id="264" r:id="rId16"/>
    <p:sldId id="265" r:id="rId17"/>
    <p:sldId id="266" r:id="rId18"/>
    <p:sldId id="267" r:id="rId19"/>
    <p:sldId id="268" r:id="rId20"/>
    <p:sldId id="269" r:id="rId21"/>
  </p:sldIdLst>
  <p:sldSz cx="12192000" cy="6858000"/>
  <p:notesSz cx="6858000" cy="9144000"/>
  <p:custDataLst>
    <p:tags r:id="rId11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621FF"/>
    <a:srgbClr val="42FBFF"/>
    <a:srgbClr val="004EA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76" y="2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8.xml"/><Relationship Id="rId3" Type="http://schemas.openxmlformats.org/officeDocument/2006/relationships/slide" Target="slides/slide7.xml"/><Relationship Id="rId4" Type="http://schemas.openxmlformats.org/officeDocument/2006/relationships/slide" Target="slides/slide6.xml"/><Relationship Id="rId5" Type="http://schemas.openxmlformats.org/officeDocument/2006/relationships/slide" Target="slides/slide5.xml"/><Relationship Id="rId6" Type="http://schemas.openxmlformats.org/officeDocument/2006/relationships/slide" Target="slides/slide4.xml"/><Relationship Id="rId7" Type="http://schemas.openxmlformats.org/officeDocument/2006/relationships/slide" Target="slides/slide3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notesMaster" Target="notesMasters/notesMaster1.xml"/><Relationship Id="rId11" Type="http://schemas.openxmlformats.org/officeDocument/2006/relationships/tags" Target="tags/tag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42D39C-7128-464F-BD04-D366B03BF295}" type="datetimeFigureOut">
              <a:rPr lang="zh-CN" altLang="en-US" smtClean="0"/>
              <a:t>2026/8/15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C1F944-9A05-454F-AC8E-11979856693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36E208-F909-4836-9A5C-A41A544B5635}" type="datetime1">
              <a:rPr lang="zh-CN" altLang="en-US" smtClean="0"/>
              <a:t>2026/8/15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DA1F8-EFC0-4CAB-8BDC-024BE93EBA8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1140BB-A52F-4631-B0EF-7DDCE49B9B73}" type="datetime1">
              <a:rPr lang="zh-CN" altLang="en-US" smtClean="0"/>
              <a:t>2026/8/15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DA1F8-EFC0-4CAB-8BDC-024BE93EBA8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DE030-EDFC-4B64-AC7F-5C38F23947E6}" type="datetime1">
              <a:rPr lang="zh-CN" altLang="en-US" smtClean="0"/>
              <a:t>2026/8/15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DA1F8-EFC0-4CAB-8BDC-024BE93EBA8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880BF3-2BDD-46D8-86F4-EC402222D390}" type="datetime1">
              <a:rPr lang="zh-CN" altLang="en-US" smtClean="0"/>
              <a:t>2026/8/15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DA1F8-EFC0-4CAB-8BDC-024BE93EBA8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54D09-6B69-4246-A573-05D24C71A5AB}" type="datetime1">
              <a:rPr lang="zh-CN" altLang="en-US" smtClean="0"/>
              <a:t>2026/8/15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DA1F8-EFC0-4CAB-8BDC-024BE93EBA8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896871-FA83-411E-872C-2E58F89A499F}" type="datetime1">
              <a:rPr lang="zh-CN" altLang="en-US" smtClean="0"/>
              <a:t>2026/8/15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DA1F8-EFC0-4CAB-8BDC-024BE93EBA8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94026-8B03-463D-971E-9C4DC572A730}" type="datetime1">
              <a:rPr lang="zh-CN" altLang="en-US" smtClean="0"/>
              <a:t>2026/8/15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DA1F8-EFC0-4CAB-8BDC-024BE93EBA8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EA60D5-A4AC-4C11-957E-BDCF195E21CB}" type="datetime1">
              <a:rPr lang="zh-CN" altLang="en-US" smtClean="0"/>
              <a:t>2026/8/15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DA1F8-EFC0-4CAB-8BDC-024BE93EBA8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69B33-0715-4C5C-AE8B-95608665F394}" type="datetime1">
              <a:rPr lang="zh-CN" altLang="en-US" smtClean="0"/>
              <a:t>2026/8/15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DA1F8-EFC0-4CAB-8BDC-024BE93EBA8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731E7-DB52-4947-ABD6-5662ABE70140}" type="datetime1">
              <a:rPr lang="zh-CN" altLang="en-US" smtClean="0"/>
              <a:t>2026/8/15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DA1F8-EFC0-4CAB-8BDC-024BE93EBA8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DDD1B5-EF44-4763-8199-39D16EBDCD78}" type="datetime1">
              <a:rPr lang="zh-CN" altLang="en-US" smtClean="0"/>
              <a:t>2026/8/15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DA1F8-EFC0-4CAB-8BDC-024BE93EBA8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4" Type="http://schemas.openxmlformats.org/officeDocument/2006/relationships/image" Target="../media/image2.png"/><Relationship Id="rId15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CE8EBA-01BE-4080-B783-91AFC1276518}" type="datetime1">
              <a:rPr lang="zh-CN" altLang="en-US" smtClean="0"/>
              <a:t>2026/8/15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1DA1F8-EFC0-4CAB-8BDC-024BE93EBA89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7" name="图片 6" descr="全国中小学人工智能探究性学习训练营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311817" y="174625"/>
            <a:ext cx="4869180" cy="268605"/>
          </a:xfrm>
          <a:prstGeom prst="rect">
            <a:avLst/>
          </a:prstGeom>
          <a:effectLst/>
        </p:spPr>
      </p:pic>
      <p:pic>
        <p:nvPicPr>
          <p:cNvPr id="10" name="图片 9" descr="学会"/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10570819" y="181928"/>
            <a:ext cx="1346835" cy="254000"/>
          </a:xfrm>
          <a:prstGeom prst="rect">
            <a:avLst/>
          </a:prstGeom>
        </p:spPr>
      </p:pic>
      <p:pic>
        <p:nvPicPr>
          <p:cNvPr id="11" name="图片 10" descr="中国自动化学会logo"/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9860254" y="156528"/>
            <a:ext cx="570230" cy="3048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Relationship Id="rId7" Type="http://schemas.openxmlformats.org/officeDocument/2006/relationships/image" Target="../media/image2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Relationship Id="rId4" Type="http://schemas.openxmlformats.org/officeDocument/2006/relationships/image" Target="../media/image25.png"/><Relationship Id="rId5" Type="http://schemas.openxmlformats.org/officeDocument/2006/relationships/image" Target="../media/image2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Relationship Id="rId4" Type="http://schemas.openxmlformats.org/officeDocument/2006/relationships/image" Target="../media/image2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Relationship Id="rId3" Type="http://schemas.openxmlformats.org/officeDocument/2006/relationships/image" Target="../media/image31.png"/><Relationship Id="rId4" Type="http://schemas.openxmlformats.org/officeDocument/2006/relationships/image" Target="../media/image32.png"/><Relationship Id="rId5" Type="http://schemas.openxmlformats.org/officeDocument/2006/relationships/image" Target="../media/image3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jpg"/><Relationship Id="rId3" Type="http://schemas.openxmlformats.org/officeDocument/2006/relationships/image" Target="../media/image35.png"/><Relationship Id="rId4" Type="http://schemas.openxmlformats.org/officeDocument/2006/relationships/image" Target="../media/image36.png"/><Relationship Id="rId5" Type="http://schemas.openxmlformats.org/officeDocument/2006/relationships/image" Target="../media/image3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面向读题的划词助手</a:t>
            </a:r>
          </a:p>
          <a:p>
            <a:r>
              <a:t>文章关键词提取与读题划词：一个本地轻量的两阶段级联方法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汇报人：嵇子扬　　学校：西安交大苏州附中</a:t>
            </a:r>
          </a:p>
          <a:p>
            <a:r>
              <a:t>指导教师：[待填写]　　2026 年 9 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目 录</a:t>
            </a:r>
          </a:p>
          <a:p>
            <a:r>
              <a:t>Content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项目简介</a:t>
            </a:r>
          </a:p>
          <a:p>
            <a:r>
              <a:t>解决方案与系统设计</a:t>
            </a:r>
          </a:p>
          <a:p>
            <a:r>
              <a:t>项目实现流程</a:t>
            </a:r>
          </a:p>
          <a:p>
            <a:r>
              <a:t>主要结论和效果</a:t>
            </a:r>
          </a:p>
          <a:p>
            <a:r>
              <a:t>项目收获和未来展望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F172A">
              <a:alpha val="9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01 引言与研究背景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524000"/>
            <a:ext cx="1066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学生读题，为何常常抓不住重点？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2286000"/>
            <a:ext cx="10668000" cy="1524000"/>
          </a:xfrm>
          <a:prstGeom prst="roundRect">
            <a:avLst>
              <a:gd name="adj" fmla="val 10000"/>
            </a:avLst>
          </a:prstGeom>
          <a:solidFill>
            <a:srgbClr val="1E293B">
              <a:alpha val="80000"/>
            </a:srgbClr>
          </a:solidFill>
          <a:ln w="12700" cmpd="sng" cap="flat">
            <a:solidFill>
              <a:srgbClr val="38BDF8">
                <a:alpha val="60000"/>
              </a:srgbClr>
            </a:solidFill>
            <a:prstDash val="solid"/>
            <a:round/>
          </a:ln>
          <a:effectLst>
            <a:outerShdw dir="2700000" dist="0" blurRad="190500" algn="tl">
              <a:srgbClr val="000000">
                <a:alpha val="40000"/>
              </a:srgbClr>
            </a:outerShdw>
          </a:effectLst>
        </p:spPr>
        <p:txBody>
          <a:bodyPr anchor="ctr" rtlCol="false" vert="horz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16000" y="2476500"/>
            <a:ext cx="10160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500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在当前的教育评价体系下，题目复杂度与信息密度持续攀升，对学生的信息提取与加工能力提出了更高要求。然而，传统教学模式往往聚焦于解题技巧的传授，却普遍忽视了“读题”这一关键环节的系统性训练，导致学生面对复杂题干时容易信息筛选失焦。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762000" y="4191000"/>
            <a:ext cx="3302000" cy="2286000"/>
          </a:xfrm>
          <a:prstGeom prst="roundRect">
            <a:avLst>
              <a:gd name="adj" fmla="val 6666"/>
            </a:avLst>
          </a:prstGeom>
          <a:solidFill>
            <a:srgbClr val="1E293B">
              <a:alpha val="90000"/>
            </a:srgbClr>
          </a:solidFill>
          <a:ln w="12700" cmpd="sng" cap="flat">
            <a:solidFill>
              <a:srgbClr val="2DD4BF">
                <a:alpha val="60000"/>
              </a:srgbClr>
            </a:solidFill>
            <a:prstDash val="solid"/>
            <a:round/>
          </a:ln>
          <a:effectLst>
            <a:outerShdw dir="2700000" dist="50800" blurRad="127000" algn="tl">
              <a:srgbClr val="000000">
                <a:alpha val="30000"/>
              </a:srgbClr>
            </a:outerShdw>
          </a:effectLst>
        </p:spPr>
        <p:txBody>
          <a:bodyPr anchor="ctr" rtlCol="false" vert="horz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1066800" y="4495800"/>
            <a:ext cx="406400" cy="40640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1066800" y="5080000"/>
            <a:ext cx="26924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题干复杂度剧增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1066800" y="5524500"/>
            <a:ext cx="26924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数理学科题干信息密度显著增加，隐含条件增多，对学生的信息筛选、拆解与重组能力提出了前所未有的挑战。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4445000" y="4191000"/>
            <a:ext cx="3302000" cy="2286000"/>
          </a:xfrm>
          <a:prstGeom prst="roundRect">
            <a:avLst>
              <a:gd name="adj" fmla="val 6666"/>
            </a:avLst>
          </a:prstGeom>
          <a:solidFill>
            <a:srgbClr val="1E293B">
              <a:alpha val="90000"/>
            </a:srgbClr>
          </a:solidFill>
          <a:ln w="12700" cmpd="sng" cap="flat">
            <a:solidFill>
              <a:srgbClr val="38BDF8">
                <a:alpha val="60000"/>
              </a:srgbClr>
            </a:solidFill>
            <a:prstDash val="solid"/>
            <a:round/>
          </a:ln>
          <a:effectLst>
            <a:outerShdw dir="2700000" dist="50800" blurRad="127000" algn="tl">
              <a:srgbClr val="000000">
                <a:alpha val="30000"/>
              </a:srgbClr>
            </a:outerShdw>
          </a:effectLst>
        </p:spPr>
        <p:txBody>
          <a:bodyPr anchor="ctr" rtlCol="false" vert="horz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4749800" y="4495800"/>
            <a:ext cx="406400" cy="4064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4749800" y="5080000"/>
            <a:ext cx="26924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考查重心的转移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4749800" y="5524500"/>
            <a:ext cx="26924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考试从单纯考查知识记忆，转向考查“从海量信息中提取有效要素”并灵活运用知识解决实际问题的能力。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8128000" y="4191000"/>
            <a:ext cx="3302000" cy="2286000"/>
          </a:xfrm>
          <a:prstGeom prst="roundRect">
            <a:avLst>
              <a:gd name="adj" fmla="val 6666"/>
            </a:avLst>
          </a:prstGeom>
          <a:solidFill>
            <a:srgbClr val="1E293B">
              <a:alpha val="90000"/>
            </a:srgbClr>
          </a:solidFill>
          <a:ln w="12700" cmpd="sng" cap="flat">
            <a:solidFill>
              <a:srgbClr val="A855F7">
                <a:alpha val="60000"/>
              </a:srgbClr>
            </a:solidFill>
            <a:prstDash val="solid"/>
            <a:round/>
          </a:ln>
          <a:effectLst>
            <a:outerShdw dir="2700000" dist="50800" blurRad="127000" algn="tl">
              <a:srgbClr val="000000">
                <a:alpha val="30000"/>
              </a:srgbClr>
            </a:outerShdw>
          </a:effectLst>
        </p:spPr>
        <p:txBody>
          <a:bodyPr anchor="ctr" rtlCol="false" vert="horz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8432800" y="4495800"/>
            <a:ext cx="406400" cy="406400"/>
          </a:xfrm>
          <a:prstGeom prst="rect">
            <a:avLst/>
          </a:prstGeom>
        </p:spPr>
      </p:pic>
      <p:sp>
        <p:nvSpPr>
          <p:cNvPr name="AutoShape 17" id="17"/>
          <p:cNvSpPr/>
          <p:nvPr/>
        </p:nvSpPr>
        <p:spPr>
          <a:xfrm rot="0" flipH="false" flipV="false">
            <a:off x="8432800" y="5080000"/>
            <a:ext cx="26924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学习过程的盲区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8432800" y="5524500"/>
            <a:ext cx="26924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师生注意力过度集中在“解题结果”上，而忽视了“读题过程”的训练，导致学生的信息提取能力长期成为能力短板。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141C28">
              <a:alpha val="100000"/>
            </a:srgbClr>
          </a:solidFill>
          <a:ln cmpd="sng" cap="flat">
            <a:solidFill>
              <a:srgbClr val="06090E">
                <a:alpha val="100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01 引言与研究背景</a:t>
            </a:r>
            <a:endParaRPr lang="en-US" sz="1100"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2"/>
          <a:srcRect l="29219" r="29219" t="0" b="0"/>
          <a:stretch>
            <a:fillRect/>
          </a:stretch>
        </p:blipFill>
        <p:spPr>
          <a:xfrm rot="0" flipH="false" flipV="false">
            <a:off x="762000" y="1778000"/>
            <a:ext cx="4064000" cy="2540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5" id="5"/>
          <p:cNvSpPr/>
          <p:nvPr/>
        </p:nvSpPr>
        <p:spPr>
          <a:xfrm rot="0" flipH="false" flipV="false">
            <a:off x="762000" y="4572000"/>
            <a:ext cx="4064000" cy="177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这是一道典型的高中物理力学综合题，题干包含运动状态、物体质量、速度等多个关键参数。题目看似常规，但对“读题”的细致程度要求极高，任何一个细节的遗漏都可能导致解题方向的根本性错误。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5461000" y="1778000"/>
            <a:ext cx="5969000" cy="1397000"/>
          </a:xfrm>
          <a:prstGeom prst="roundRect">
            <a:avLst>
              <a:gd name="adj" fmla="val 10909"/>
            </a:avLst>
          </a:prstGeom>
          <a:solidFill>
            <a:srgbClr val="1E293B">
              <a:alpha val="80000"/>
            </a:srgbClr>
          </a:solidFill>
          <a:ln w="25400" cmpd="sng" cap="flat">
            <a:solidFill>
              <a:srgbClr val="38BDF8">
                <a:alpha val="100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5715000" y="2247900"/>
            <a:ext cx="457200" cy="457200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 rot="0" flipH="false" flipV="false">
            <a:off x="6350000" y="1968500"/>
            <a:ext cx="4953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关键信息拆解</a:t>
            </a:r>
            <a:r>
              <a:rPr lang="en-US" b="false" i="false" strike="noStrike" u="none" sz="1500">
                <a:solidFill>
                  <a:srgbClr val="E2E8F0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16666"/>
              </a:lnSpc>
            </a:pPr>
            <a:r>
              <a:rPr lang="en-US" b="false" i="false" strike="noStrike" u="none" sz="1300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定量数据：传送带速度v=2m/s，木块质量m=1kg；状态描述：传送带匀速运动，木块被“轻放”至左端。这些显性信息构成了解题的基础。</a:t>
            </a:r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5461000" y="3429000"/>
            <a:ext cx="5969000" cy="1397000"/>
          </a:xfrm>
          <a:prstGeom prst="roundRect">
            <a:avLst>
              <a:gd name="adj" fmla="val 10909"/>
            </a:avLst>
          </a:prstGeom>
          <a:solidFill>
            <a:srgbClr val="1E293B">
              <a:alpha val="80000"/>
            </a:srgbClr>
          </a:solidFill>
          <a:ln w="25400" cmpd="sng" cap="flat">
            <a:solidFill>
              <a:srgbClr val="38BDF8">
                <a:alpha val="100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5715000" y="3898900"/>
            <a:ext cx="457200" cy="4572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6350000" y="3619500"/>
            <a:ext cx="4953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核心隐含条件挖掘</a:t>
            </a:r>
            <a:r>
              <a:rPr lang="en-US" b="false" i="false" strike="noStrike" u="none" sz="1500">
                <a:solidFill>
                  <a:srgbClr val="E2E8F0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16666"/>
              </a:lnSpc>
            </a:pPr>
            <a:r>
              <a:rPr lang="en-US" b="false" i="false" strike="noStrike" u="none" sz="1300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“轻放”是解题的题眼，它隐含了木块初速度为0的物理条件。若忽略此细节，将直接导致初始条件设定错误，后续的受力分析与运动计算将全盘皆输。</a:t>
            </a:r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5461000" y="5080000"/>
            <a:ext cx="5969000" cy="1397000"/>
          </a:xfrm>
          <a:prstGeom prst="roundRect">
            <a:avLst>
              <a:gd name="adj" fmla="val 10909"/>
            </a:avLst>
          </a:prstGeom>
          <a:solidFill>
            <a:srgbClr val="1E293B">
              <a:alpha val="80000"/>
            </a:srgbClr>
          </a:solidFill>
          <a:ln w="25400" cmpd="sng" cap="flat">
            <a:solidFill>
              <a:srgbClr val="38BDF8">
                <a:alpha val="100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5715000" y="5549900"/>
            <a:ext cx="457200" cy="457200"/>
          </a:xfrm>
          <a:prstGeom prst="rect">
            <a:avLst/>
          </a:prstGeom>
        </p:spPr>
      </p:pic>
      <p:sp>
        <p:nvSpPr>
          <p:cNvPr name="AutoShape 14" id="14"/>
          <p:cNvSpPr/>
          <p:nvPr/>
        </p:nvSpPr>
        <p:spPr>
          <a:xfrm rot="0" flipH="false" flipV="false">
            <a:off x="6350000" y="5270500"/>
            <a:ext cx="4953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当前教育的研究缺口</a:t>
            </a:r>
            <a:r>
              <a:rPr lang="en-US" b="false" i="false" strike="noStrike" u="none" sz="1500">
                <a:solidFill>
                  <a:srgbClr val="E2E8F0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16666"/>
              </a:lnSpc>
            </a:pPr>
            <a:r>
              <a:rPr lang="en-US" b="false" i="false" strike="noStrike" u="none" sz="1300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现有工具多侧重“解题步骤展示”，却忽视了“读题拆解”这一前置能力的培养。学生缺乏系统性的信息提取训练，这正是智能教育辅助领域亟待填补的空白。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AutoShape 2" id="2"/>
          <p:cNvSpPr/>
          <p:nvPr/>
        </p:nvSpPr>
        <p:spPr>
          <a:xfrm rot="0" flipH="false" flipV="false">
            <a:off x="762000" y="635000"/>
            <a:ext cx="1066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02 解决方案与系统设计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778000"/>
            <a:ext cx="10668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8BDF8"/>
                </a:solidFill>
                <a:latin typeface="Noto Sans SC"/>
                <a:ea typeface="Noto Sans SC"/>
                <a:cs typeface="Noto Sans SC"/>
                <a:sym typeface="Noto Sans SC"/>
              </a:rPr>
              <a:t xml:space="preserve">核心目标：开发一个本地轻量级的学习辅助工具——本地离线免网络、判断稳定可复现、数据隐私安全、零调用成本，帮助学生从繁杂的学习材料中快速过滤干扰信息、精准抓取核心要点，从而提升信息提取效率与自主学习能力。</a:t>
            </a:r>
            <a:r>
              <a:rPr lang="en-US" b="false" i="false" strike="noStrike" u="none" sz="1600">
                <a:solidFill>
                  <a:srgbClr val="E2E8F0"/>
                </a:solidFill>
                <a:latin typeface="Noto Sans SC"/>
                <a:ea typeface="Noto Sans SC"/>
                <a:cs typeface="Noto Sans SC"/>
                <a:sym typeface="Noto Sans SC"/>
              </a:rPr>
              <a:t xml:space="preserve"/>
            </a:r>
            <a:r>
              <a:rPr lang="en-US" b="false" i="false" strike="noStrike" u="none" sz="1500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 xml:space="preserve"/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3048000"/>
            <a:ext cx="5207000" cy="3302000"/>
          </a:xfrm>
          <a:prstGeom prst="roundRect">
            <a:avLst>
              <a:gd name="adj" fmla="val 4615"/>
            </a:avLst>
          </a:prstGeom>
          <a:solidFill>
            <a:srgbClr val="1E293B">
              <a:alpha val="80000"/>
            </a:srgbClr>
          </a:solidFill>
          <a:ln w="12700" cmpd="sng" cap="flat">
            <a:solidFill>
              <a:srgbClr val="38BDF8">
                <a:alpha val="60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1016000" y="3302000"/>
            <a:ext cx="355600" cy="3556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1524000" y="3302000"/>
            <a:ext cx="4318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8FAFC"/>
                </a:solidFill>
                <a:latin typeface="Noto Sans SC"/>
                <a:ea typeface="Noto Sans SC"/>
                <a:cs typeface="Noto Sans SC"/>
                <a:sym typeface="Noto Sans SC"/>
              </a:rPr>
              <a:t>01 文章关键词提取</a:t>
            </a:r>
            <a:endParaRPr lang="en-US" sz="1100"/>
          </a:p>
        </p:txBody>
      </p:sp>
      <p:cxnSp>
        <p:nvCxnSpPr>
          <p:cNvPr name="Connector 7" id="7"/>
          <p:cNvCxnSpPr/>
          <p:nvPr/>
        </p:nvCxnSpPr>
        <p:spPr>
          <a:xfrm rot="-9291" flipH="false" flipV="false">
            <a:off x="1016009" y="39306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38BDF8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8" id="8"/>
          <p:cNvSpPr/>
          <p:nvPr/>
        </p:nvSpPr>
        <p:spPr>
          <a:xfrm rot="0" flipH="false" flipV="false">
            <a:off x="1016000" y="4127500"/>
            <a:ext cx="4699000" cy="215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true" i="false" strike="noStrike" u="none" sz="1500">
                <a:solidFill>
                  <a:srgbClr val="38BDF8"/>
                </a:solidFill>
                <a:latin typeface="Noto Sans SC"/>
                <a:ea typeface="Noto Sans SC"/>
                <a:cs typeface="Noto Sans SC"/>
                <a:sym typeface="Noto Sans SC"/>
              </a:rPr>
              <a:t>应用场景：</a:t>
            </a:r>
            <a:r>
              <a:rPr lang="en-US" b="false" i="false" strike="noStrike" u="none" sz="1400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b="false" i="false" strike="noStrike" u="none" sz="1400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针对长篇阅读材料，快速提炼文章主旨，减少无效阅读时间，提升阅读效率。</a:t>
            </a:r>
            <a:r>
              <a:rPr lang="en-US" b="false" i="false" strike="noStrike" u="none" sz="1400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33333"/>
              </a:lnSpc>
            </a:pPr>
            <a:r>
              <a:rPr lang="en-US" b="true" i="false" strike="noStrike" u="none" sz="1500">
                <a:solidFill>
                  <a:srgbClr val="38BDF8"/>
                </a:solidFill>
                <a:latin typeface="Noto Sans SC"/>
                <a:ea typeface="Noto Sans SC"/>
                <a:cs typeface="Noto Sans SC"/>
                <a:sym typeface="Noto Sans SC"/>
              </a:rPr>
              <a:t>操作流程：</a:t>
            </a:r>
            <a:r>
              <a:rPr lang="en-US" b="false" i="false" strike="noStrike" u="none" sz="1400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b="false" i="false" strike="noStrike" u="none" sz="1400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粘贴文章内容 → 启动智能分析 → 输出按重要度排序的关键词列表。</a:t>
            </a:r>
            <a:r>
              <a:rPr lang="en-US" b="false" i="false" strike="noStrike" u="none" sz="1400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>
              <a:lnSpc>
                <a:spcPct val="133333"/>
              </a:lnSpc>
            </a:pPr>
            <a:r>
              <a:rPr lang="en-US" b="true" i="false" strike="noStrike" u="none" sz="1500">
                <a:solidFill>
                  <a:srgbClr val="38BDF8"/>
                </a:solidFill>
                <a:latin typeface="Noto Sans SC"/>
                <a:ea typeface="Noto Sans SC"/>
                <a:cs typeface="Noto Sans SC"/>
                <a:sym typeface="Noto Sans SC"/>
              </a:rPr>
              <a:t>核心价值：</a:t>
            </a:r>
            <a:r>
              <a:rPr lang="en-US" b="false" i="false" strike="noStrike" u="none" sz="1400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b="false" i="false" strike="noStrike" u="none" sz="1400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实现内容的高效概览，引导学习方向，同时量化评估信息提取的准确性。</a:t>
            </a:r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6223000" y="3048000"/>
            <a:ext cx="5207000" cy="3302000"/>
          </a:xfrm>
          <a:prstGeom prst="roundRect">
            <a:avLst>
              <a:gd name="adj" fmla="val 4615"/>
            </a:avLst>
          </a:prstGeom>
          <a:solidFill>
            <a:srgbClr val="1E293B">
              <a:alpha val="80000"/>
            </a:srgbClr>
          </a:solidFill>
          <a:ln w="12700" cmpd="sng" cap="flat">
            <a:solidFill>
              <a:srgbClr val="38BDF8">
                <a:alpha val="60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6477000" y="3302000"/>
            <a:ext cx="355600" cy="3556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6985000" y="3302000"/>
            <a:ext cx="4318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8FAFC"/>
                </a:solidFill>
                <a:latin typeface="Noto Sans SC"/>
                <a:ea typeface="Noto Sans SC"/>
                <a:cs typeface="Noto Sans SC"/>
                <a:sym typeface="Noto Sans SC"/>
              </a:rPr>
              <a:t>02 读题划词解析</a:t>
            </a:r>
            <a:endParaRPr lang="en-US" sz="1100"/>
          </a:p>
        </p:txBody>
      </p:sp>
      <p:cxnSp>
        <p:nvCxnSpPr>
          <p:cNvPr name="Connector 12" id="12"/>
          <p:cNvCxnSpPr/>
          <p:nvPr/>
        </p:nvCxnSpPr>
        <p:spPr>
          <a:xfrm rot="-9291" flipH="false" flipV="false">
            <a:off x="6477009" y="39306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38BDF8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3" id="13"/>
          <p:cNvSpPr/>
          <p:nvPr/>
        </p:nvSpPr>
        <p:spPr>
          <a:xfrm rot="0" flipH="false" flipV="false">
            <a:off x="6477000" y="4127500"/>
            <a:ext cx="4699000" cy="215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true" i="false" strike="noStrike" u="none" sz="1500">
                <a:solidFill>
                  <a:srgbClr val="38BDF8"/>
                </a:solidFill>
                <a:latin typeface="Noto Sans SC"/>
                <a:ea typeface="Noto Sans SC"/>
                <a:cs typeface="Noto Sans SC"/>
                <a:sym typeface="Noto Sans SC"/>
              </a:rPr>
              <a:t>应用场景：</a:t>
            </a:r>
            <a:r>
              <a:rPr lang="en-US" b="false" i="false" strike="noStrike" u="none" sz="1400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b="false" i="false" strike="noStrike" u="none" sz="1400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聚焦理科题目，精准识别题干中的关键条件、隐含信息与干扰项。</a:t>
            </a:r>
            <a:r>
              <a:rPr lang="en-US" b="false" i="false" strike="noStrike" u="none" sz="1400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33333"/>
              </a:lnSpc>
            </a:pPr>
            <a:r>
              <a:rPr lang="en-US" b="true" i="false" strike="noStrike" u="none" sz="1500">
                <a:solidFill>
                  <a:srgbClr val="38BDF8"/>
                </a:solidFill>
                <a:latin typeface="Noto Sans SC"/>
                <a:ea typeface="Noto Sans SC"/>
                <a:cs typeface="Noto Sans SC"/>
                <a:sym typeface="Noto Sans SC"/>
              </a:rPr>
              <a:t>操作流程：</a:t>
            </a:r>
            <a:r>
              <a:rPr lang="en-US" b="false" i="false" strike="noStrike" u="none" sz="1400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b="false" i="false" strike="noStrike" u="none" sz="1400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粘贴题目文本 → 手动划词或自动识别 → 生成三色标注的智能讲评。</a:t>
            </a:r>
            <a:r>
              <a:rPr lang="en-US" b="false" i="false" strike="noStrike" u="none" sz="1400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>
              <a:lnSpc>
                <a:spcPct val="133333"/>
              </a:lnSpc>
            </a:pPr>
            <a:r>
              <a:rPr lang="en-US" b="true" i="false" strike="noStrike" u="none" sz="1500">
                <a:solidFill>
                  <a:srgbClr val="38BDF8"/>
                </a:solidFill>
                <a:latin typeface="Noto Sans SC"/>
                <a:ea typeface="Noto Sans SC"/>
                <a:cs typeface="Noto Sans SC"/>
                <a:sym typeface="Noto Sans SC"/>
              </a:rPr>
              <a:t>核心价值：</a:t>
            </a:r>
            <a:r>
              <a:rPr lang="en-US" b="false" i="false" strike="noStrike" u="none" sz="1400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b="false" i="false" strike="noStrike" u="none" sz="1400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提供即时反馈，帮助养成良好的审题习惯，实现学习能力的精准诊断。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F172A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762000"/>
            <a:ext cx="1066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03 核心技术实现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905000"/>
            <a:ext cx="5207000" cy="4572000"/>
          </a:xfrm>
          <a:prstGeom prst="roundRect">
            <a:avLst>
              <a:gd name="adj" fmla="val 3333"/>
            </a:avLst>
          </a:prstGeom>
          <a:solidFill>
            <a:srgbClr val="1E293B">
              <a:alpha val="90000"/>
            </a:srgbClr>
          </a:solidFill>
          <a:ln w="25400" cmpd="sng" cap="flat">
            <a:solidFill>
              <a:srgbClr val="4FD1C5">
                <a:alpha val="80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66800" y="2209800"/>
            <a:ext cx="406400" cy="4064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1600200" y="2184400"/>
            <a:ext cx="4191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第一阶段：统计层粗筛</a:t>
            </a:r>
            <a:endParaRPr lang="en-US" sz="1100"/>
          </a:p>
        </p:txBody>
      </p:sp>
      <p:cxnSp>
        <p:nvCxnSpPr>
          <p:cNvPr name="Connector 7" id="7"/>
          <p:cNvCxnSpPr/>
          <p:nvPr/>
        </p:nvCxnSpPr>
        <p:spPr>
          <a:xfrm rot="-9496" flipH="false" flipV="false">
            <a:off x="1066809" y="2838450"/>
            <a:ext cx="4597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4FD1C5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8" id="8"/>
          <p:cNvSpPr/>
          <p:nvPr/>
        </p:nvSpPr>
        <p:spPr>
          <a:xfrm rot="0" flipH="false" flipV="false">
            <a:off x="1066800" y="3098800"/>
            <a:ext cx="45974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4FD1C5"/>
                </a:solidFill>
                <a:latin typeface="Noto Sans SC"/>
                <a:ea typeface="Noto Sans SC"/>
                <a:cs typeface="Noto Sans SC"/>
                <a:sym typeface="Noto Sans SC"/>
              </a:rPr>
              <a:t>🎯 核心目标：</a:t>
            </a:r>
            <a:r>
              <a:rPr lang="en-US" b="false" i="false" strike="noStrike" u="none" sz="1400">
                <a:solidFill>
                  <a:srgbClr val="E2E8F0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b="false" i="false" strike="noStrike" u="none" sz="1400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快速从数百个候选词中筛选出Top-40的高质量候选，剔除低相关度干扰项。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066800" y="4165600"/>
            <a:ext cx="45974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4FD1C5"/>
                </a:solidFill>
                <a:latin typeface="Noto Sans SC"/>
                <a:ea typeface="Noto Sans SC"/>
                <a:cs typeface="Noto Sans SC"/>
                <a:sym typeface="Noto Sans SC"/>
              </a:rPr>
              <a:t>🛠️ 关键算法：</a:t>
            </a:r>
            <a:r>
              <a:rPr lang="en-US" b="false" i="false" strike="noStrike" u="none" sz="1300">
                <a:solidFill>
                  <a:srgbClr val="E2E8F0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300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•</a:t>
            </a:r>
            <a:r>
              <a:rPr lang="en-US" b="true" i="false" strike="noStrike" u="none" sz="1300">
                <a:solidFill>
                  <a:srgbClr val="E2E8F0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b="true" i="false" strike="noStrike" u="none" sz="1300">
                <a:solidFill>
                  <a:srgbClr val="E2E8F0"/>
                </a:solidFill>
                <a:latin typeface="Noto Sans SC"/>
                <a:ea typeface="Noto Sans SC"/>
                <a:cs typeface="Noto Sans SC"/>
                <a:sym typeface="Noto Sans SC"/>
              </a:rPr>
              <a:t>TextRank算法：</a:t>
            </a:r>
            <a:r>
              <a:rPr lang="en-US" b="false" i="false" strike="noStrike" u="none" sz="1300">
                <a:solidFill>
                  <a:srgbClr val="E2E8F0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b="false" i="false" strike="noStrike" u="none" sz="1300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基于图排序原理，自动识别文章中的关键节点词汇。</a:t>
            </a:r>
            <a:r>
              <a:rPr lang="en-US" b="false" i="false" strike="noStrike" u="none" sz="1300">
                <a:solidFill>
                  <a:srgbClr val="E2E8F0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300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•</a:t>
            </a:r>
            <a:r>
              <a:rPr lang="en-US" b="true" i="false" strike="noStrike" u="none" sz="1300">
                <a:solidFill>
                  <a:srgbClr val="E2E8F0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b="true" i="false" strike="noStrike" u="none" sz="1300">
                <a:solidFill>
                  <a:srgbClr val="E2E8F0"/>
                </a:solidFill>
                <a:latin typeface="Noto Sans SC"/>
                <a:ea typeface="Noto Sans SC"/>
                <a:cs typeface="Noto Sans SC"/>
                <a:sym typeface="Noto Sans SC"/>
              </a:rPr>
              <a:t>PMI点互信息：</a:t>
            </a:r>
            <a:r>
              <a:rPr lang="en-US" b="false" i="false" strike="noStrike" u="none" sz="1300">
                <a:solidFill>
                  <a:srgbClr val="E2E8F0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b="false" i="false" strike="noStrike" u="none" sz="1300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量化词语间的共生关联强度，精准识别高频搭配词。</a:t>
            </a:r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1066800" y="5537200"/>
            <a:ext cx="45974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4FD1C5"/>
                </a:solidFill>
                <a:latin typeface="Noto Sans SC"/>
                <a:ea typeface="Noto Sans SC"/>
                <a:cs typeface="Noto Sans SC"/>
                <a:sym typeface="Noto Sans SC"/>
              </a:rPr>
              <a:t>⚡ 核心优势：</a:t>
            </a:r>
            <a:r>
              <a:rPr lang="en-US" b="false" i="false" strike="noStrike" u="none" sz="1300">
                <a:solidFill>
                  <a:srgbClr val="E2E8F0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b="false" i="false" strike="noStrike" u="none" sz="1300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计算复杂度低，速度极快，为后续精算大幅节省算力资源。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6223000" y="1905000"/>
            <a:ext cx="5207000" cy="4572000"/>
          </a:xfrm>
          <a:prstGeom prst="roundRect">
            <a:avLst>
              <a:gd name="adj" fmla="val 3333"/>
            </a:avLst>
          </a:prstGeom>
          <a:solidFill>
            <a:srgbClr val="1E293B">
              <a:alpha val="90000"/>
            </a:srgbClr>
          </a:solidFill>
          <a:ln w="25400" cmpd="sng" cap="flat">
            <a:solidFill>
              <a:srgbClr val="4FD1C5">
                <a:alpha val="80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6527800" y="2209800"/>
            <a:ext cx="406400" cy="4064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7061200" y="2184400"/>
            <a:ext cx="4191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第二阶段：语义层精算与重排</a:t>
            </a:r>
            <a:endParaRPr lang="en-US" sz="1100"/>
          </a:p>
        </p:txBody>
      </p:sp>
      <p:cxnSp>
        <p:nvCxnSpPr>
          <p:cNvPr name="Connector 14" id="14"/>
          <p:cNvCxnSpPr/>
          <p:nvPr/>
        </p:nvCxnSpPr>
        <p:spPr>
          <a:xfrm rot="-9496" flipH="false" flipV="false">
            <a:off x="6527809" y="2838450"/>
            <a:ext cx="4597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4FD1C5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5" id="15"/>
          <p:cNvSpPr/>
          <p:nvPr/>
        </p:nvSpPr>
        <p:spPr>
          <a:xfrm rot="0" flipH="false" flipV="false">
            <a:off x="6527800" y="3098800"/>
            <a:ext cx="45974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4FD1C5"/>
                </a:solidFill>
                <a:latin typeface="Noto Sans SC"/>
                <a:ea typeface="Noto Sans SC"/>
                <a:cs typeface="Noto Sans SC"/>
                <a:sym typeface="Noto Sans SC"/>
              </a:rPr>
              <a:t>🎯 核心目标：</a:t>
            </a:r>
            <a:r>
              <a:rPr lang="en-US" b="false" i="false" strike="noStrike" u="none" sz="1400">
                <a:solidFill>
                  <a:srgbClr val="E2E8F0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b="false" i="false" strike="noStrike" u="none" sz="1400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对粗筛结果进行深度语义建模与多维度特征融合，实现精准排序。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527800" y="4165600"/>
            <a:ext cx="45974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4FD1C5"/>
                </a:solidFill>
                <a:latin typeface="Noto Sans SC"/>
                <a:ea typeface="Noto Sans SC"/>
                <a:cs typeface="Noto Sans SC"/>
                <a:sym typeface="Noto Sans SC"/>
              </a:rPr>
              <a:t>🛠️ 关键技术：</a:t>
            </a:r>
            <a:r>
              <a:rPr lang="en-US" b="false" i="false" strike="noStrike" u="none" sz="1300">
                <a:solidFill>
                  <a:srgbClr val="E2E8F0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300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•</a:t>
            </a:r>
            <a:r>
              <a:rPr lang="en-US" b="true" i="false" strike="noStrike" u="none" sz="1300">
                <a:solidFill>
                  <a:srgbClr val="E2E8F0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b="true" i="false" strike="noStrike" u="none" sz="1300">
                <a:solidFill>
                  <a:srgbClr val="E2E8F0"/>
                </a:solidFill>
                <a:latin typeface="Noto Sans SC"/>
                <a:ea typeface="Noto Sans SC"/>
                <a:cs typeface="Noto Sans SC"/>
                <a:sym typeface="Noto Sans SC"/>
              </a:rPr>
              <a:t>MiniLM模型：</a:t>
            </a:r>
            <a:r>
              <a:rPr lang="en-US" b="false" i="false" strike="noStrike" u="none" sz="1300">
                <a:solidFill>
                  <a:srgbClr val="E2E8F0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b="false" i="false" strike="noStrike" u="none" sz="1300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轻量级预训练模型，计算词与文的余弦相似度。</a:t>
            </a:r>
            <a:r>
              <a:rPr lang="en-US" b="false" i="false" strike="noStrike" u="none" sz="1300">
                <a:solidFill>
                  <a:srgbClr val="E2E8F0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300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•</a:t>
            </a:r>
            <a:r>
              <a:rPr lang="en-US" b="true" i="false" strike="noStrike" u="none" sz="1300">
                <a:solidFill>
                  <a:srgbClr val="E2E8F0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b="true" i="false" strike="noStrike" u="none" sz="1300">
                <a:solidFill>
                  <a:srgbClr val="E2E8F0"/>
                </a:solidFill>
                <a:latin typeface="Noto Sans SC"/>
                <a:ea typeface="Noto Sans SC"/>
                <a:cs typeface="Noto Sans SC"/>
                <a:sym typeface="Noto Sans SC"/>
              </a:rPr>
              <a:t>GBDT重排：</a:t>
            </a:r>
            <a:r>
              <a:rPr lang="en-US" b="false" i="false" strike="noStrike" u="none" sz="1300">
                <a:solidFill>
                  <a:srgbClr val="E2E8F0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b="false" i="false" strike="noStrike" u="none" sz="1300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融合11维特征（如TF-IDF、位置权重），输出最终评分。</a:t>
            </a:r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6527800" y="5537200"/>
            <a:ext cx="45974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4FD1C5"/>
                </a:solidFill>
                <a:latin typeface="Noto Sans SC"/>
                <a:ea typeface="Noto Sans SC"/>
                <a:cs typeface="Noto Sans SC"/>
                <a:sym typeface="Noto Sans SC"/>
              </a:rPr>
              <a:t>⚡ 核心优势：</a:t>
            </a:r>
            <a:r>
              <a:rPr lang="en-US" b="false" i="false" strike="noStrike" u="none" sz="1300">
                <a:solidFill>
                  <a:srgbClr val="E2E8F0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b="false" i="false" strike="noStrike" u="none" sz="1300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兼顾高精度与低延迟，实现本地环境下的秒级响应与高质量推荐。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AutoShape 2" id="2"/>
          <p:cNvSpPr/>
          <p:nvPr/>
        </p:nvSpPr>
        <p:spPr>
          <a:xfrm rot="0" flipH="false" flipV="false">
            <a:off x="762000" y="635000"/>
            <a:ext cx="1066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03 核心技术实现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524000"/>
            <a:ext cx="1066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高质量的标注数据是模型效果的基石。我们构建了一条“人工定口径 → 规则批量初标 → 人工逐条复核”的人机协同标注闭环，通过人工与机器的深度配合，实现了标注效率与数据质量的双重保障。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2667000"/>
            <a:ext cx="2603500" cy="1778000"/>
          </a:xfrm>
          <a:prstGeom prst="roundRect">
            <a:avLst>
              <a:gd name="adj" fmla="val 5714"/>
            </a:avLst>
          </a:prstGeom>
          <a:solidFill>
            <a:srgbClr val="34495E">
              <a:alpha val="100000"/>
            </a:srgbClr>
          </a:solidFill>
          <a:ln w="12700" cmpd="sng" cap="flat">
            <a:solidFill>
              <a:srgbClr val="3498BC">
                <a:alpha val="80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952500" y="2857500"/>
            <a:ext cx="304800" cy="3048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1333500" y="2857500"/>
            <a:ext cx="19685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01 人工定口径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952500" y="3302000"/>
            <a:ext cx="22225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200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手工标注少量样本，明确标注标准与判定细则，为后续批量标注确立统一基准。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3556000" y="2667000"/>
            <a:ext cx="2603500" cy="1778000"/>
          </a:xfrm>
          <a:prstGeom prst="roundRect">
            <a:avLst>
              <a:gd name="adj" fmla="val 5714"/>
            </a:avLst>
          </a:prstGeom>
          <a:solidFill>
            <a:srgbClr val="34495E">
              <a:alpha val="100000"/>
            </a:srgbClr>
          </a:solidFill>
          <a:ln w="12700" cmpd="sng" cap="flat">
            <a:solidFill>
              <a:srgbClr val="3498BC">
                <a:alpha val="80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3746500" y="2857500"/>
            <a:ext cx="304800" cy="3048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4127500" y="2857500"/>
            <a:ext cx="19685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02 规则批量初标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3746500" y="3302000"/>
            <a:ext cx="22225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200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基于既定口径编写自动化规则，对剩余海量数据进行批量预标注，大幅提升效率。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762000" y="4699000"/>
            <a:ext cx="2603500" cy="1778000"/>
          </a:xfrm>
          <a:prstGeom prst="roundRect">
            <a:avLst>
              <a:gd name="adj" fmla="val 5714"/>
            </a:avLst>
          </a:prstGeom>
          <a:solidFill>
            <a:srgbClr val="34495E">
              <a:alpha val="100000"/>
            </a:srgbClr>
          </a:solidFill>
          <a:ln w="12700" cmpd="sng" cap="flat">
            <a:solidFill>
              <a:srgbClr val="3498BC">
                <a:alpha val="80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952500" y="4889500"/>
            <a:ext cx="304800" cy="304800"/>
          </a:xfrm>
          <a:prstGeom prst="rect">
            <a:avLst/>
          </a:prstGeom>
        </p:spPr>
      </p:pic>
      <p:sp>
        <p:nvSpPr>
          <p:cNvPr name="AutoShape 14" id="14"/>
          <p:cNvSpPr/>
          <p:nvPr/>
        </p:nvSpPr>
        <p:spPr>
          <a:xfrm rot="0" flipH="false" flipV="false">
            <a:off x="1333500" y="4889500"/>
            <a:ext cx="19685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03 人工逐条复核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952500" y="5334000"/>
            <a:ext cx="22225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200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对机器初标结果进行人工抽检与修正，确保标注数据的准确性与一致性。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3556000" y="4699000"/>
            <a:ext cx="2603500" cy="1778000"/>
          </a:xfrm>
          <a:prstGeom prst="roundRect">
            <a:avLst>
              <a:gd name="adj" fmla="val 5714"/>
            </a:avLst>
          </a:prstGeom>
          <a:solidFill>
            <a:srgbClr val="34495E">
              <a:alpha val="100000"/>
            </a:srgbClr>
          </a:solidFill>
          <a:ln w="12700" cmpd="sng" cap="flat">
            <a:solidFill>
              <a:srgbClr val="3498BC">
                <a:alpha val="80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3746500" y="4889500"/>
            <a:ext cx="304800" cy="304800"/>
          </a:xfrm>
          <a:prstGeom prst="rect">
            <a:avLst/>
          </a:prstGeom>
        </p:spPr>
      </p:pic>
      <p:sp>
        <p:nvSpPr>
          <p:cNvPr name="AutoShape 18" id="18"/>
          <p:cNvSpPr/>
          <p:nvPr/>
        </p:nvSpPr>
        <p:spPr>
          <a:xfrm rot="0" flipH="false" flipV="false">
            <a:off x="4127500" y="4889500"/>
            <a:ext cx="19685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04 迭代优化闭环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3746500" y="5334000"/>
            <a:ext cx="22225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200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将复核发现的问题反馈回规则层，动态校准规则与口径，形成持续优化的闭环。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6604000" y="2921000"/>
            <a:ext cx="4826000" cy="1905000"/>
          </a:xfrm>
          <a:prstGeom prst="roundRect">
            <a:avLst>
              <a:gd name="adj" fmla="val 5333"/>
            </a:avLst>
          </a:prstGeom>
          <a:solidFill>
            <a:srgbClr val="34495E">
              <a:alpha val="100000"/>
            </a:srgbClr>
          </a:solidFill>
          <a:ln w="12700" cmpd="sng" cap="flat">
            <a:solidFill>
              <a:srgbClr val="3498BC">
                <a:alpha val="80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pic>
        <p:nvPicPr>
          <p:cNvPr name="Picture 21" id="21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0" flipH="false" flipV="false">
            <a:off x="6858000" y="3619500"/>
            <a:ext cx="508000" cy="508000"/>
          </a:xfrm>
          <a:prstGeom prst="rect">
            <a:avLst/>
          </a:prstGeom>
        </p:spPr>
      </p:pic>
      <p:sp>
        <p:nvSpPr>
          <p:cNvPr name="AutoShape 22" id="22"/>
          <p:cNvSpPr/>
          <p:nvPr/>
        </p:nvSpPr>
        <p:spPr>
          <a:xfrm rot="0" flipH="false" flipV="false">
            <a:off x="7620000" y="3175000"/>
            <a:ext cx="36830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划词任务：精细化语义标注</a:t>
            </a:r>
            <a:r>
              <a:rPr lang="en-US" b="false" i="false" strike="noStrike" u="none" sz="1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16666"/>
              </a:lnSpc>
            </a:pPr>
            <a:r>
              <a:rPr lang="en-US" b="false" i="false" strike="noStrike" u="none" sz="1300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完成 </a:t>
            </a:r>
            <a:r>
              <a:rPr lang="en-US" b="true" i="false" strike="noStrike" u="none" sz="1300">
                <a:solidFill>
                  <a:srgbClr val="3498BC"/>
                </a:solidFill>
                <a:latin typeface="Noto Sans SC"/>
                <a:ea typeface="Noto Sans SC"/>
                <a:cs typeface="Noto Sans SC"/>
                <a:sym typeface="Noto Sans SC"/>
              </a:rPr>
              <a:t>10,493</a:t>
            </a:r>
            <a:r>
              <a:rPr lang="en-US" b="false" i="false" strike="noStrike" u="none" sz="1300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 条划词记录，覆盖 1032 道题目，为模型理解题目语义提供了坚实的数据支撑。</a:t>
            </a:r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6604000" y="5080000"/>
            <a:ext cx="4826000" cy="1651000"/>
          </a:xfrm>
          <a:prstGeom prst="roundRect">
            <a:avLst>
              <a:gd name="adj" fmla="val 6153"/>
            </a:avLst>
          </a:prstGeom>
          <a:solidFill>
            <a:srgbClr val="34495E">
              <a:alpha val="100000"/>
            </a:srgbClr>
          </a:solidFill>
          <a:ln w="12700" cmpd="sng" cap="flat">
            <a:solidFill>
              <a:srgbClr val="3498BC">
                <a:alpha val="80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pic>
        <p:nvPicPr>
          <p:cNvPr name="Picture 24" id="24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rot="0" flipH="false" flipV="false">
            <a:off x="6883400" y="5676900"/>
            <a:ext cx="457200" cy="457200"/>
          </a:xfrm>
          <a:prstGeom prst="rect">
            <a:avLst/>
          </a:prstGeom>
        </p:spPr>
      </p:pic>
      <p:sp>
        <p:nvSpPr>
          <p:cNvPr name="AutoShape 25" id="25"/>
          <p:cNvSpPr/>
          <p:nvPr/>
        </p:nvSpPr>
        <p:spPr>
          <a:xfrm rot="0" flipH="false" flipV="false">
            <a:off x="7620000" y="5270500"/>
            <a:ext cx="3683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true" i="false" strike="noStrike" u="none" sz="15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关键词任务：核心信息提取</a:t>
            </a:r>
            <a:r>
              <a:rPr lang="en-US" b="false" i="false" strike="noStrike" u="none" sz="1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16666"/>
              </a:lnSpc>
            </a:pPr>
            <a:r>
              <a:rPr lang="en-US" b="false" i="false" strike="noStrike" u="none" sz="1200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完成 </a:t>
            </a:r>
            <a:r>
              <a:rPr lang="en-US" b="true" i="false" strike="noStrike" u="none" sz="1200">
                <a:solidFill>
                  <a:srgbClr val="3498BC"/>
                </a:solidFill>
                <a:latin typeface="Noto Sans SC"/>
                <a:ea typeface="Noto Sans SC"/>
                <a:cs typeface="Noto Sans SC"/>
                <a:sym typeface="Noto Sans SC"/>
              </a:rPr>
              <a:t>2,564</a:t>
            </a:r>
            <a:r>
              <a:rPr lang="en-US" b="false" i="false" strike="noStrike" u="none" sz="1200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 条关键词记录，覆盖 144 篇专业文章，强化了模型对核心知识点的关联与提取能力。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AutoShape 2" id="2"/>
          <p:cNvSpPr/>
          <p:nvPr/>
        </p:nvSpPr>
        <p:spPr>
          <a:xfrm rot="0" flipH="false" flipV="false">
            <a:off x="762000" y="508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F8FAFC"/>
                </a:solidFill>
                <a:latin typeface="Noto Sans SC"/>
                <a:ea typeface="Noto Sans SC"/>
                <a:cs typeface="Noto Sans SC"/>
                <a:sym typeface="Noto Sans SC"/>
              </a:rPr>
              <a:t>04 实验结果与分析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397000"/>
            <a:ext cx="5207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4FD1C5"/>
                </a:solidFill>
                <a:latin typeface="Noto Sans SC"/>
                <a:ea typeface="Noto Sans SC"/>
                <a:cs typeface="Noto Sans SC"/>
                <a:sym typeface="Noto Sans SC"/>
              </a:rPr>
              <a:t>关键词提取性能跃升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905000"/>
            <a:ext cx="5207000" cy="1651000"/>
          </a:xfrm>
          <a:prstGeom prst="roundRect">
            <a:avLst>
              <a:gd name="adj" fmla="val 0"/>
            </a:avLst>
          </a:prstGeom>
          <a:solidFill>
            <a:srgbClr val="1E293B">
              <a:alpha val="80000"/>
            </a:srgbClr>
          </a:solidFill>
          <a:ln w="12700" cmpd="sng" cap="flat">
            <a:solidFill>
              <a:srgbClr val="4FD1C5">
                <a:alpha val="70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952500" y="2032000"/>
            <a:ext cx="48260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true" i="false" strike="noStrike" u="none" sz="1500">
                <a:solidFill>
                  <a:srgbClr val="F1F5F9"/>
                </a:solidFill>
                <a:latin typeface="Noto Sans SC"/>
                <a:ea typeface="Noto Sans SC"/>
                <a:cs typeface="Noto Sans SC"/>
                <a:sym typeface="Noto Sans SC"/>
              </a:rPr>
              <a:t>实验基础设置：</a:t>
            </a:r>
            <a:r>
              <a:rPr lang="en-US" b="false" i="false" strike="noStrike" u="none" sz="1400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400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300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测试集包含27篇独立文章，确保无数据泄露。采用Hit@1、P@8及Gold召回率作为核心评估指标，全方位衡量模型性能。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3810000"/>
            <a:ext cx="5207000" cy="1270000"/>
          </a:xfrm>
          <a:prstGeom prst="roundRect">
            <a:avLst>
              <a:gd name="adj" fmla="val 0"/>
            </a:avLst>
          </a:prstGeom>
          <a:solidFill>
            <a:srgbClr val="1E293B">
              <a:alpha val="80000"/>
            </a:srgbClr>
          </a:solidFill>
          <a:ln w="12700" cmpd="sng" cap="flat">
            <a:solidFill>
              <a:srgbClr val="4FD1C5">
                <a:alpha val="50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952500" y="4000500"/>
            <a:ext cx="355600" cy="355600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 rot="0" flipH="false" flipV="false">
            <a:off x="1460500" y="3937000"/>
            <a:ext cx="43815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true" i="false" strike="noStrike" u="none" sz="1500">
                <a:solidFill>
                  <a:srgbClr val="F1F5F9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核心指标突破：</a:t>
            </a:r>
            <a:r>
              <a:rPr lang="en-US" b="false" i="false" strike="noStrike" u="none" sz="1300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引入学习重排机制后，首名命中率从81%显著提升至89%，关键信息排序能力质的飞跃。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762000" y="5270500"/>
            <a:ext cx="5207000" cy="1270000"/>
          </a:xfrm>
          <a:prstGeom prst="roundRect">
            <a:avLst>
              <a:gd name="adj" fmla="val 0"/>
            </a:avLst>
          </a:prstGeom>
          <a:solidFill>
            <a:srgbClr val="1E293B">
              <a:alpha val="80000"/>
            </a:srgbClr>
          </a:solidFill>
          <a:ln w="12700" cmpd="sng" cap="flat">
            <a:solidFill>
              <a:srgbClr val="4FD1C5">
                <a:alpha val="50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952500" y="5461000"/>
            <a:ext cx="355600" cy="3556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1460500" y="5397500"/>
            <a:ext cx="43815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true" i="false" strike="noStrike" u="none" sz="1500">
                <a:solidFill>
                  <a:srgbClr val="F1F5F9"/>
                </a:solidFill>
                <a:latin typeface="Noto Sans SC"/>
                <a:ea typeface="Noto Sans SC"/>
                <a:cs typeface="Noto Sans SC"/>
                <a:sym typeface="Noto Sans SC"/>
              </a:rPr>
              <a:t>结果可靠且泛化：</a:t>
            </a:r>
            <a:r>
              <a:rPr lang="en-US" b="false" i="false" strike="noStrike" u="none" sz="1300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测试集与训练集相似度极低，证明模型掌握了关键词提取的深层语义逻辑，而非依赖数据记忆。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6477000" y="1397000"/>
            <a:ext cx="4953000" cy="1397000"/>
          </a:xfrm>
          <a:prstGeom prst="roundRect">
            <a:avLst>
              <a:gd name="adj" fmla="val 0"/>
            </a:avLst>
          </a:prstGeom>
          <a:solidFill>
            <a:srgbClr val="1E293B">
              <a:alpha val="80000"/>
            </a:srgbClr>
          </a:solidFill>
          <a:ln w="12700" cmpd="sng" cap="flat">
            <a:solidFill>
              <a:srgbClr val="4FD1C5">
                <a:alpha val="70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6604000" y="1524000"/>
            <a:ext cx="2286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4FD1C5"/>
                </a:solidFill>
                <a:latin typeface="Noto Sans SC"/>
                <a:ea typeface="Noto Sans SC"/>
                <a:cs typeface="Noto Sans SC"/>
                <a:sym typeface="Noto Sans SC"/>
              </a:rPr>
              <a:t>89%</a:t>
            </a:r>
            <a:r>
              <a:rPr lang="en-US" b="false" i="false" strike="noStrike" u="none" sz="1600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marL="0" indent="0">
              <a:lnSpc>
                <a:spcPct val="125000"/>
              </a:lnSpc>
            </a:pPr>
            <a:r>
              <a:rPr lang="en-US" b="false" i="false" strike="noStrike" u="none" sz="1300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首名命中率 (Hit@1)</a:t>
            </a:r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9017000" y="1524000"/>
            <a:ext cx="2286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4FD1C5"/>
                </a:solidFill>
                <a:latin typeface="Noto Sans SC"/>
                <a:ea typeface="Noto Sans SC"/>
                <a:cs typeface="Noto Sans SC"/>
                <a:sym typeface="Noto Sans SC"/>
              </a:rPr>
              <a:t>+8%</a:t>
            </a:r>
            <a:r>
              <a:rPr lang="en-US" b="false" i="false" strike="noStrike" u="none" sz="1600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marL="0" indent="0">
              <a:lnSpc>
                <a:spcPct val="125000"/>
              </a:lnSpc>
            </a:pPr>
            <a:r>
              <a:rPr lang="en-US" b="false" i="false" strike="noStrike" u="none" sz="1300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相对规则模型提升</a:t>
            </a:r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6477000" y="3048000"/>
            <a:ext cx="4953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1F5F9"/>
                </a:solidFill>
                <a:latin typeface="Noto Sans SC"/>
                <a:ea typeface="Noto Sans SC"/>
                <a:cs typeface="Noto Sans SC"/>
                <a:sym typeface="Noto Sans SC"/>
              </a:rPr>
              <a:t>模型性能对比详情</a:t>
            </a:r>
            <a:endParaRPr lang="en-US" sz="1100"/>
          </a:p>
        </p:txBody>
      </p:sp>
      <p:graphicFrame>
        <p:nvGraphicFramePr>
          <p:cNvPr name="Table 16" id="16"/>
          <p:cNvGraphicFramePr>
            <a:graphicFrameLocks noGrp="true"/>
          </p:cNvGraphicFramePr>
          <p:nvPr/>
        </p:nvGraphicFramePr>
        <p:xfrm>
          <a:off x="6477000" y="3556000"/>
          <a:ext cx="4953000" cy="1905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524000"/>
                <a:gridCol w="1143000"/>
                <a:gridCol w="1143000"/>
                <a:gridCol w="1143000"/>
              </a:tblGrid>
              <a:tr h="5461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300">
                          <a:solidFill>
                            <a:srgbClr val="F1F5F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模型类型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FD1C5">
                        <a:alpha val="25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300">
                          <a:solidFill>
                            <a:srgbClr val="F1F5F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Hit@1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FD1C5">
                        <a:alpha val="25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300">
                          <a:solidFill>
                            <a:srgbClr val="F1F5F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P@8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FD1C5">
                        <a:alpha val="25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300">
                          <a:solidFill>
                            <a:srgbClr val="F1F5F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Gold召回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FD1C5">
                        <a:alpha val="25000"/>
                      </a:srgbClr>
                    </a:solidFill>
                  </a:tcPr>
                </a:tc>
              </a:tr>
              <a:tr h="6858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CBD5E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规则版(仅统计)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34155">
                        <a:alpha val="6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CBD5E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81%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34155">
                        <a:alpha val="6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CBD5E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0.542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34155">
                        <a:alpha val="6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CBD5E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0.701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34155">
                        <a:alpha val="60000"/>
                      </a:srgbClr>
                    </a:solidFill>
                  </a:tcPr>
                </a:tc>
              </a:tr>
              <a:tr h="6731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200">
                          <a:solidFill>
                            <a:srgbClr val="F1F5F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级联模型(重排)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FD1C5">
                        <a:alpha val="15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200">
                          <a:solidFill>
                            <a:srgbClr val="4FD1C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89%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FD1C5">
                        <a:alpha val="15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200">
                          <a:solidFill>
                            <a:srgbClr val="4FD1C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0.583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FD1C5">
                        <a:alpha val="15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200">
                          <a:solidFill>
                            <a:srgbClr val="4FD1C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0.754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FD1C5">
                        <a:alpha val="1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name="AutoShape 17" id="17"/>
          <p:cNvSpPr/>
          <p:nvPr/>
        </p:nvSpPr>
        <p:spPr>
          <a:xfrm rot="0" flipH="false" flipV="false">
            <a:off x="6477000" y="5651500"/>
            <a:ext cx="4953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总结：级联模型通过“规则+学习重排”的组合策略，有效解决了单一规则模型的排序偏差问题，实现了准确性与召回率的双重提升。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AutoShape 2" id="2"/>
          <p:cNvSpPr/>
          <p:nvPr/>
        </p:nvSpPr>
        <p:spPr>
          <a:xfrm rot="0" flipH="false" flipV="false">
            <a:off x="762000" y="508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04 实验结果与分析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524000"/>
            <a:ext cx="5080000" cy="2413000"/>
          </a:xfrm>
          <a:prstGeom prst="roundRect">
            <a:avLst>
              <a:gd name="adj" fmla="val 6315"/>
            </a:avLst>
          </a:prstGeom>
          <a:solidFill>
            <a:srgbClr val="1E293B">
              <a:alpha val="85000"/>
            </a:srgbClr>
          </a:solidFill>
          <a:ln w="12700" cmpd="sng" cap="flat">
            <a:solidFill>
              <a:srgbClr val="38BDF8">
                <a:alpha val="90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1016000" y="1778000"/>
            <a:ext cx="381000" cy="381000"/>
          </a:xfrm>
          <a:prstGeom prst="rect">
            <a:avLst/>
          </a:prstGeom>
        </p:spPr>
      </p:pic>
      <p:sp>
        <p:nvSpPr>
          <p:cNvPr name="AutoShape 5" id="5"/>
          <p:cNvSpPr/>
          <p:nvPr/>
        </p:nvSpPr>
        <p:spPr>
          <a:xfrm rot="0" flipH="false" flipV="false">
            <a:off x="1524000" y="1778000"/>
            <a:ext cx="381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8FAFC"/>
                </a:solidFill>
                <a:latin typeface="Noto Sans SC"/>
                <a:ea typeface="Noto Sans SC"/>
                <a:cs typeface="Noto Sans SC"/>
                <a:sym typeface="Noto Sans SC"/>
              </a:rPr>
              <a:t>数学模型 · 特征明确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16000" y="2413000"/>
            <a:ext cx="4572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8BDF8"/>
                </a:solidFill>
                <a:latin typeface="Noto Sans SC"/>
                <a:ea typeface="Noto Sans SC"/>
                <a:cs typeface="Noto Sans SC"/>
                <a:sym typeface="Noto Sans SC"/>
              </a:rPr>
              <a:t>93.8%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016000" y="3048000"/>
            <a:ext cx="4572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题目条件边界清晰，结构化特征显著，模型对逻辑关系的捕捉能力极强。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6223000" y="1524000"/>
            <a:ext cx="5080000" cy="2413000"/>
          </a:xfrm>
          <a:prstGeom prst="roundRect">
            <a:avLst>
              <a:gd name="adj" fmla="val 6315"/>
            </a:avLst>
          </a:prstGeom>
          <a:solidFill>
            <a:srgbClr val="1E293B">
              <a:alpha val="85000"/>
            </a:srgbClr>
          </a:solidFill>
          <a:ln w="12700" cmpd="sng" cap="flat">
            <a:solidFill>
              <a:srgbClr val="38BDF8">
                <a:alpha val="90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6477000" y="1778000"/>
            <a:ext cx="381000" cy="3810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6985000" y="1778000"/>
            <a:ext cx="381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8FAFC"/>
                </a:solidFill>
                <a:latin typeface="Noto Sans SC"/>
                <a:ea typeface="Noto Sans SC"/>
                <a:cs typeface="Noto Sans SC"/>
                <a:sym typeface="Noto Sans SC"/>
              </a:rPr>
              <a:t>语文模型 · 语境复杂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6477000" y="2413000"/>
            <a:ext cx="4572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8BDF8"/>
                </a:solidFill>
                <a:latin typeface="Noto Sans SC"/>
                <a:ea typeface="Noto Sans SC"/>
                <a:cs typeface="Noto Sans SC"/>
                <a:sym typeface="Noto Sans SC"/>
              </a:rPr>
              <a:t>80.3%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6477000" y="3048000"/>
            <a:ext cx="4572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条件隐含在自然语言中，存在歧义与隐喻，对深层语义理解提出更高挑战。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762000" y="4191000"/>
            <a:ext cx="5080000" cy="2286000"/>
          </a:xfrm>
          <a:prstGeom prst="roundRect">
            <a:avLst>
              <a:gd name="adj" fmla="val 6666"/>
            </a:avLst>
          </a:prstGeom>
          <a:solidFill>
            <a:srgbClr val="1E293B">
              <a:alpha val="85000"/>
            </a:srgbClr>
          </a:solidFill>
          <a:ln w="12700" cmpd="sng" cap="flat">
            <a:solidFill>
              <a:srgbClr val="38BDF8">
                <a:alpha val="70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1016000" y="4445000"/>
            <a:ext cx="304800" cy="304800"/>
          </a:xfrm>
          <a:prstGeom prst="rect">
            <a:avLst/>
          </a:prstGeom>
        </p:spPr>
      </p:pic>
      <p:sp>
        <p:nvSpPr>
          <p:cNvPr name="AutoShape 15" id="15"/>
          <p:cNvSpPr/>
          <p:nvPr/>
        </p:nvSpPr>
        <p:spPr>
          <a:xfrm rot="0" flipH="false" flipV="false">
            <a:off x="1460500" y="4419600"/>
            <a:ext cx="4445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8FAFC"/>
                </a:solidFill>
                <a:latin typeface="Noto Sans SC"/>
                <a:ea typeface="Noto Sans SC"/>
                <a:cs typeface="Noto Sans SC"/>
                <a:sym typeface="Noto Sans SC"/>
              </a:rPr>
              <a:t>实验评估体系设置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1016000" y="4953000"/>
            <a:ext cx="45720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• </a:t>
            </a:r>
            <a:r>
              <a:rPr lang="en-US" b="true" i="false" strike="noStrike" u="none" sz="1300">
                <a:solidFill>
                  <a:srgbClr val="F1F5F9"/>
                </a:solidFill>
                <a:latin typeface="Noto Sans SC"/>
                <a:ea typeface="Noto Sans SC"/>
                <a:cs typeface="Noto Sans SC"/>
                <a:sym typeface="Noto Sans SC"/>
              </a:rPr>
              <a:t>测试集构建：</a:t>
            </a:r>
            <a:r>
              <a:rPr lang="en-US" b="false" i="false" strike="noStrike" u="none" sz="1300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预留20%独立测试集，确保数据分布无偏，客观验证模型泛化能力。</a:t>
            </a:r>
            <a:r>
              <a:rPr lang="en-US" b="false" i="false" strike="noStrike" u="none" sz="1300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300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300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• </a:t>
            </a:r>
            <a:r>
              <a:rPr lang="en-US" b="true" i="false" strike="noStrike" u="none" sz="1300">
                <a:solidFill>
                  <a:srgbClr val="F1F5F9"/>
                </a:solidFill>
                <a:latin typeface="Noto Sans SC"/>
                <a:ea typeface="Noto Sans SC"/>
                <a:cs typeface="Noto Sans SC"/>
                <a:sym typeface="Noto Sans SC"/>
              </a:rPr>
              <a:t>多维指标：</a:t>
            </a:r>
            <a:r>
              <a:rPr lang="en-US" b="false" i="false" strike="noStrike" u="none" sz="1300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除整体准确率外，重点关注“必划、可划、不划”三档分类的F1分数，全方位评估划词精准度。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6223000" y="4191000"/>
            <a:ext cx="5080000" cy="2286000"/>
          </a:xfrm>
          <a:prstGeom prst="roundRect">
            <a:avLst>
              <a:gd name="adj" fmla="val 6666"/>
            </a:avLst>
          </a:prstGeom>
          <a:solidFill>
            <a:srgbClr val="1E293B">
              <a:alpha val="85000"/>
            </a:srgbClr>
          </a:solidFill>
          <a:ln w="12700" cmpd="sng" cap="flat">
            <a:solidFill>
              <a:srgbClr val="F87171">
                <a:alpha val="80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6477000" y="4445000"/>
            <a:ext cx="304800" cy="304800"/>
          </a:xfrm>
          <a:prstGeom prst="rect">
            <a:avLst/>
          </a:prstGeom>
        </p:spPr>
      </p:pic>
      <p:sp>
        <p:nvSpPr>
          <p:cNvPr name="AutoShape 19" id="19"/>
          <p:cNvSpPr/>
          <p:nvPr/>
        </p:nvSpPr>
        <p:spPr>
          <a:xfrm rot="0" flipH="false" flipV="false">
            <a:off x="6921500" y="4419600"/>
            <a:ext cx="4445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8FAFC"/>
                </a:solidFill>
                <a:latin typeface="Noto Sans SC"/>
                <a:ea typeface="Noto Sans SC"/>
                <a:cs typeface="Noto Sans SC"/>
                <a:sym typeface="Noto Sans SC"/>
              </a:rPr>
              <a:t>诚实地面对不足与改进方向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6477000" y="4953000"/>
            <a:ext cx="45720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当前模型在语文题的“不划”类别识别上存在明显短板，召回率仅为 </a:t>
            </a:r>
            <a:r>
              <a:rPr lang="en-US" b="true" i="false" strike="noStrike" u="none" sz="1300">
                <a:solidFill>
                  <a:srgbClr val="F87171"/>
                </a:solidFill>
                <a:latin typeface="Noto Sans SC"/>
                <a:ea typeface="Noto Sans SC"/>
                <a:cs typeface="Noto Sans SC"/>
                <a:sym typeface="Noto Sans SC"/>
              </a:rPr>
              <a:t>0.071</a:t>
            </a:r>
            <a:r>
              <a:rPr lang="en-US" b="false" i="false" strike="noStrike" u="none" sz="1300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。这源于自然语言的复杂性与语境的模糊性。未来将重点引入上下文感知增强模块，强化模型对负样本特征的提取能力。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AutoShape 2" id="2"/>
          <p:cNvSpPr/>
          <p:nvPr/>
        </p:nvSpPr>
        <p:spPr>
          <a:xfrm rot="0" flipH="false" flipV="false">
            <a:off x="762000" y="508000"/>
            <a:ext cx="1066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04 实验结果与分析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333500"/>
            <a:ext cx="1066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4FD1C5"/>
                </a:solidFill>
                <a:latin typeface="Noto Sans SC"/>
                <a:ea typeface="Noto Sans SC"/>
                <a:cs typeface="Noto Sans SC"/>
                <a:sym typeface="Noto Sans SC"/>
              </a:rPr>
              <a:t>模型可解释性：特征重要性分析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968500"/>
            <a:ext cx="5207000" cy="2286000"/>
          </a:xfrm>
          <a:prstGeom prst="roundRect">
            <a:avLst>
              <a:gd name="adj" fmla="val 0"/>
            </a:avLst>
          </a:prstGeom>
          <a:solidFill>
            <a:srgbClr val="1E293B">
              <a:alpha val="90000"/>
            </a:srgbClr>
          </a:solidFill>
          <a:ln w="25400" cmpd="sng" cap="flat">
            <a:solidFill>
              <a:srgbClr val="4FD1C5">
                <a:alpha val="90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952500" y="2159000"/>
            <a:ext cx="482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4FD1C5"/>
                </a:solidFill>
                <a:latin typeface="Noto Sans SC"/>
                <a:ea typeface="Noto Sans SC"/>
                <a:cs typeface="Noto Sans SC"/>
                <a:sym typeface="Noto Sans SC"/>
              </a:rPr>
              <a:t>🧮 数学模型：聚焦数据与公式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952500" y="2667000"/>
            <a:ext cx="48260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E2E8F0"/>
                </a:solidFill>
                <a:latin typeface="Noto Sans SC"/>
                <a:ea typeface="Noto Sans SC"/>
                <a:cs typeface="Noto Sans SC"/>
                <a:sym typeface="Noto Sans SC"/>
              </a:rPr>
              <a:t>• </a:t>
            </a:r>
            <a:r>
              <a:rPr lang="en-US" b="true" i="false" strike="noStrike" u="none" sz="1400">
                <a:solidFill>
                  <a:srgbClr val="F1F5F9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核心权重：</a:t>
            </a:r>
            <a:r>
              <a:rPr lang="en-US" b="false" i="false" strike="noStrike" u="none" sz="1400">
                <a:solidFill>
                  <a:srgbClr val="E2E8F0"/>
                </a:solidFill>
                <a:latin typeface="Noto Sans SC"/>
                <a:ea typeface="Noto Sans SC"/>
                <a:cs typeface="Noto Sans SC"/>
                <a:sym typeface="Noto Sans SC"/>
              </a:rPr>
              <a:t>数据类(0.31) &gt; 公式符号(0.27) &gt; 数值特征(0.18)</a:t>
            </a:r>
            <a:r>
              <a:rPr lang="en-US" b="false" i="false" strike="noStrike" u="none" sz="1400">
                <a:solidFill>
                  <a:srgbClr val="E2E8F0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400">
                <a:solidFill>
                  <a:srgbClr val="E2E8F0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400">
                <a:solidFill>
                  <a:srgbClr val="E2E8F0"/>
                </a:solidFill>
                <a:latin typeface="Noto Sans SC"/>
                <a:ea typeface="Noto Sans SC"/>
                <a:cs typeface="Noto Sans SC"/>
                <a:sym typeface="Noto Sans SC"/>
              </a:rPr>
              <a:t>• </a:t>
            </a:r>
            <a:r>
              <a:rPr lang="en-US" b="true" i="false" strike="noStrike" u="none" sz="1400">
                <a:solidFill>
                  <a:srgbClr val="F1F5F9"/>
                </a:solidFill>
                <a:latin typeface="Noto Sans SC"/>
                <a:ea typeface="Noto Sans SC"/>
                <a:cs typeface="Noto Sans SC"/>
                <a:sym typeface="Noto Sans SC"/>
              </a:rPr>
              <a:t>决策洞察：</a:t>
            </a:r>
            <a:r>
              <a:rPr lang="en-US" b="false" i="false" strike="noStrike" u="none" sz="1400">
                <a:solidFill>
                  <a:srgbClr val="E2E8F0"/>
                </a:solidFill>
                <a:latin typeface="Noto Sans SC"/>
                <a:ea typeface="Noto Sans SC"/>
                <a:cs typeface="Noto Sans SC"/>
                <a:sym typeface="Noto Sans SC"/>
              </a:rPr>
              <a:t>模型学会了“盯数据、盯公式”，其决策逻辑与人类教师对数学题目的命题直觉高度一致，精准捕捉量化信息。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6223000" y="1968500"/>
            <a:ext cx="5207000" cy="2286000"/>
          </a:xfrm>
          <a:prstGeom prst="roundRect">
            <a:avLst>
              <a:gd name="adj" fmla="val 0"/>
            </a:avLst>
          </a:prstGeom>
          <a:solidFill>
            <a:srgbClr val="1E293B">
              <a:alpha val="90000"/>
            </a:srgbClr>
          </a:solidFill>
          <a:ln w="25400" cmpd="sng" cap="flat">
            <a:solidFill>
              <a:srgbClr val="4FD1C5">
                <a:alpha val="90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6413500" y="2159000"/>
            <a:ext cx="482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4FD1C5"/>
                </a:solidFill>
                <a:latin typeface="Noto Sans SC"/>
                <a:ea typeface="Noto Sans SC"/>
                <a:cs typeface="Noto Sans SC"/>
                <a:sym typeface="Noto Sans SC"/>
              </a:rPr>
              <a:t>📝 语文模型：聚焦逻辑与语境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6413500" y="2667000"/>
            <a:ext cx="48260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E2E8F0"/>
                </a:solidFill>
                <a:latin typeface="Noto Sans SC"/>
                <a:ea typeface="Noto Sans SC"/>
                <a:cs typeface="Noto Sans SC"/>
                <a:sym typeface="Noto Sans SC"/>
              </a:rPr>
              <a:t>• </a:t>
            </a:r>
            <a:r>
              <a:rPr lang="en-US" b="true" i="false" strike="noStrike" u="none" sz="1400">
                <a:solidFill>
                  <a:srgbClr val="F1F5F9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核心权重：</a:t>
            </a:r>
            <a:r>
              <a:rPr lang="en-US" b="false" i="false" strike="noStrike" u="none" sz="1400">
                <a:solidFill>
                  <a:srgbClr val="E2E8F0"/>
                </a:solidFill>
                <a:latin typeface="Noto Sans SC"/>
                <a:ea typeface="Noto Sans SC"/>
                <a:cs typeface="Noto Sans SC"/>
                <a:sym typeface="Noto Sans SC"/>
              </a:rPr>
              <a:t>逻辑连接词(0.35) &gt; 词频(0.16) &gt; 首现位置(0.15)</a:t>
            </a:r>
            <a:r>
              <a:rPr lang="en-US" b="false" i="false" strike="noStrike" u="none" sz="1400">
                <a:solidFill>
                  <a:srgbClr val="E2E8F0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400">
                <a:solidFill>
                  <a:srgbClr val="E2E8F0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400">
                <a:solidFill>
                  <a:srgbClr val="E2E8F0"/>
                </a:solidFill>
                <a:latin typeface="Noto Sans SC"/>
                <a:ea typeface="Noto Sans SC"/>
                <a:cs typeface="Noto Sans SC"/>
                <a:sym typeface="Noto Sans SC"/>
              </a:rPr>
              <a:t>• </a:t>
            </a:r>
            <a:r>
              <a:rPr lang="en-US" b="true" i="false" strike="noStrike" u="none" sz="1400">
                <a:solidFill>
                  <a:srgbClr val="F1F5F9"/>
                </a:solidFill>
                <a:latin typeface="Noto Sans SC"/>
                <a:ea typeface="Noto Sans SC"/>
                <a:cs typeface="Noto Sans SC"/>
                <a:sym typeface="Noto Sans SC"/>
              </a:rPr>
              <a:t>决策洞察：</a:t>
            </a:r>
            <a:r>
              <a:rPr lang="en-US" b="false" i="false" strike="noStrike" u="none" sz="1400">
                <a:solidFill>
                  <a:srgbClr val="E2E8F0"/>
                </a:solidFill>
                <a:latin typeface="Noto Sans SC"/>
                <a:ea typeface="Noto Sans SC"/>
                <a:cs typeface="Noto Sans SC"/>
                <a:sym typeface="Noto Sans SC"/>
              </a:rPr>
              <a:t>模型学会了“盯逻辑、盯高频词”，能敏锐捕捉文本中的逻辑脉络与关键信息，符合人类的语义理解方式。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762000" y="4572000"/>
            <a:ext cx="1066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模型的边界与局限性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762000" y="5080000"/>
            <a:ext cx="3302000" cy="1524000"/>
          </a:xfrm>
          <a:prstGeom prst="roundRect">
            <a:avLst>
              <a:gd name="adj" fmla="val 0"/>
            </a:avLst>
          </a:prstGeom>
          <a:solidFill>
            <a:srgbClr val="1E293B">
              <a:alpha val="90000"/>
            </a:srgbClr>
          </a:solidFill>
          <a:ln w="12700" cmpd="sng" cap="flat">
            <a:solidFill>
              <a:srgbClr val="4FD1C5">
                <a:alpha val="70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952500" y="5270500"/>
            <a:ext cx="279400" cy="2794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1333500" y="5270500"/>
            <a:ext cx="254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F1F5F9"/>
                </a:solidFill>
                <a:latin typeface="Noto Sans SC"/>
                <a:ea typeface="Noto Sans SC"/>
                <a:cs typeface="Noto Sans SC"/>
                <a:sym typeface="Noto Sans SC"/>
              </a:rPr>
              <a:t>确定性规则学习者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952500" y="5689600"/>
            <a:ext cx="2921000" cy="825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本质是人工规则的“评分器”，依赖预设逻辑判断，缺乏自主推理与创新能力，无法突破既定规则框架。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4445000" y="5080000"/>
            <a:ext cx="3302000" cy="1524000"/>
          </a:xfrm>
          <a:prstGeom prst="roundRect">
            <a:avLst>
              <a:gd name="adj" fmla="val 0"/>
            </a:avLst>
          </a:prstGeom>
          <a:solidFill>
            <a:srgbClr val="1E293B">
              <a:alpha val="90000"/>
            </a:srgbClr>
          </a:solidFill>
          <a:ln w="12700" cmpd="sng" cap="flat">
            <a:solidFill>
              <a:srgbClr val="4FD1C5">
                <a:alpha val="70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4635500" y="5270500"/>
            <a:ext cx="279400" cy="279400"/>
          </a:xfrm>
          <a:prstGeom prst="rect">
            <a:avLst/>
          </a:prstGeom>
        </p:spPr>
      </p:pic>
      <p:sp>
        <p:nvSpPr>
          <p:cNvPr name="AutoShape 17" id="17"/>
          <p:cNvSpPr/>
          <p:nvPr/>
        </p:nvSpPr>
        <p:spPr>
          <a:xfrm rot="0" flipH="false" flipV="false">
            <a:off x="5016500" y="5270500"/>
            <a:ext cx="254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F1F5F9"/>
                </a:solidFill>
                <a:latin typeface="Noto Sans SC"/>
                <a:ea typeface="Noto Sans SC"/>
                <a:cs typeface="Noto Sans SC"/>
                <a:sym typeface="Noto Sans SC"/>
              </a:rPr>
              <a:t>特定领域识别短板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4635500" y="5689600"/>
            <a:ext cx="2921000" cy="825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对新兴术语、抽象概念或跨领域知识识别有限，易在未见过的语义场景中出现判断偏差，泛化能力待提升。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8128000" y="5080000"/>
            <a:ext cx="3302000" cy="1524000"/>
          </a:xfrm>
          <a:prstGeom prst="roundRect">
            <a:avLst>
              <a:gd name="adj" fmla="val 0"/>
            </a:avLst>
          </a:prstGeom>
          <a:solidFill>
            <a:srgbClr val="1E293B">
              <a:alpha val="90000"/>
            </a:srgbClr>
          </a:solidFill>
          <a:ln w="12700" cmpd="sng" cap="flat">
            <a:solidFill>
              <a:srgbClr val="4FD1C5">
                <a:alpha val="70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pic>
        <p:nvPicPr>
          <p:cNvPr name="Picture 20" id="20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8318500" y="5270500"/>
            <a:ext cx="279400" cy="279400"/>
          </a:xfrm>
          <a:prstGeom prst="rect">
            <a:avLst/>
          </a:prstGeom>
        </p:spPr>
      </p:pic>
      <p:sp>
        <p:nvSpPr>
          <p:cNvPr name="AutoShape 21" id="21"/>
          <p:cNvSpPr/>
          <p:nvPr/>
        </p:nvSpPr>
        <p:spPr>
          <a:xfrm rot="0" flipH="false" flipV="false">
            <a:off x="8699500" y="5270500"/>
            <a:ext cx="254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F1F5F9"/>
                </a:solidFill>
                <a:latin typeface="Noto Sans SC"/>
                <a:ea typeface="Noto Sans SC"/>
                <a:cs typeface="Noto Sans SC"/>
                <a:sym typeface="Noto Sans SC"/>
              </a:rPr>
              <a:t>语文“不划”档的挑战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8318500" y="5689600"/>
            <a:ext cx="2921000" cy="825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在识别“绝对不应该划”的词汇时表现不佳，难以精准区分语境中的核心与非核心信息，存在误判风险。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AutoShape 2" id="2"/>
          <p:cNvSpPr/>
          <p:nvPr/>
        </p:nvSpPr>
        <p:spPr>
          <a:xfrm rot="0" flipH="false" flipV="false">
            <a:off x="762000" y="508000"/>
            <a:ext cx="1066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05 总结与展望</a:t>
            </a:r>
            <a:endParaRPr lang="en-US" sz="1100"/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5989" r="5989" t="0" b="0"/>
          <a:stretch>
            <a:fillRect/>
          </a:stretch>
        </p:blipFill>
        <p:spPr>
          <a:xfrm rot="0" flipH="false" flipV="false">
            <a:off x="762000" y="1905000"/>
            <a:ext cx="4572000" cy="2794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  <a:effectLst>
            <a:outerShdw dir="2700000" dist="101600" blurRad="254000" algn="tl">
              <a:srgbClr val="000000">
                <a:alpha val="50000"/>
              </a:srgbClr>
            </a:outerShdw>
          </a:effectLst>
        </p:spPr>
      </p:pic>
      <p:sp>
        <p:nvSpPr>
          <p:cNvPr name="AutoShape 4" id="4"/>
          <p:cNvSpPr/>
          <p:nvPr/>
        </p:nvSpPr>
        <p:spPr>
          <a:xfrm rot="0" flipH="false" flipV="false">
            <a:off x="762000" y="4953000"/>
            <a:ext cx="45720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项目流程全景图直观展示了从需求分析到部署落地的完整闭环，不仅验证了技术路线的可行性，更为未来同类项目提供了标准化的实施路径参考。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6096000" y="1778000"/>
            <a:ext cx="5334000" cy="1524000"/>
          </a:xfrm>
          <a:prstGeom prst="roundRect">
            <a:avLst>
              <a:gd name="adj" fmla="val 10000"/>
            </a:avLst>
          </a:prstGeom>
          <a:solidFill>
            <a:srgbClr val="1E293B">
              <a:alpha val="80000"/>
            </a:srgbClr>
          </a:solidFill>
          <a:ln w="12700" cmpd="sng" cap="flat">
            <a:solidFill>
              <a:srgbClr val="4FD1C5">
                <a:alpha val="80000"/>
              </a:srgbClr>
            </a:solidFill>
            <a:prstDash val="solid"/>
            <a:round/>
          </a:ln>
          <a:effectLst>
            <a:outerShdw dir="2700000" dist="50800" blurRad="152400" algn="tl">
              <a:srgbClr val="000000">
                <a:alpha val="30000"/>
              </a:srgbClr>
            </a:outerShdw>
          </a:effectLst>
        </p:spPr>
        <p:txBody>
          <a:bodyPr anchor="ctr" rtlCol="false" vert="horz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6350000" y="2032000"/>
            <a:ext cx="457200" cy="4572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6985000" y="2057400"/>
            <a:ext cx="419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1F5F9"/>
                </a:solidFill>
                <a:latin typeface="Noto Sans SC"/>
                <a:ea typeface="Noto Sans SC"/>
                <a:cs typeface="Noto Sans SC"/>
                <a:sym typeface="Noto Sans SC"/>
              </a:rPr>
              <a:t>掌握全链路AI项目流水线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6985000" y="2476500"/>
            <a:ext cx="4191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完整走通从数据采集、清洗标注到模型训练、评估部署的全流程，深刻理解各环节的技术挑战与优化要点。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6096000" y="3556000"/>
            <a:ext cx="5334000" cy="1524000"/>
          </a:xfrm>
          <a:prstGeom prst="roundRect">
            <a:avLst>
              <a:gd name="adj" fmla="val 10000"/>
            </a:avLst>
          </a:prstGeom>
          <a:solidFill>
            <a:srgbClr val="1E293B">
              <a:alpha val="80000"/>
            </a:srgbClr>
          </a:solidFill>
          <a:ln w="12700" cmpd="sng" cap="flat">
            <a:solidFill>
              <a:srgbClr val="4FD1C5">
                <a:alpha val="80000"/>
              </a:srgbClr>
            </a:solidFill>
            <a:prstDash val="solid"/>
            <a:round/>
          </a:ln>
          <a:effectLst>
            <a:outerShdw dir="2700000" dist="50800" blurRad="152400" algn="tl">
              <a:srgbClr val="000000">
                <a:alpha val="30000"/>
              </a:srgbClr>
            </a:outerShdw>
          </a:effectLst>
        </p:spPr>
        <p:txBody>
          <a:bodyPr anchor="ctr" rtlCol="false" vert="horz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6350000" y="3810000"/>
            <a:ext cx="457200" cy="4572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6985000" y="3835400"/>
            <a:ext cx="419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1F5F9"/>
                </a:solidFill>
                <a:latin typeface="Noto Sans SC"/>
                <a:ea typeface="Noto Sans SC"/>
                <a:cs typeface="Noto Sans SC"/>
                <a:sym typeface="Noto Sans SC"/>
              </a:rPr>
              <a:t>建立科学的成果验证体系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6985000" y="4254500"/>
            <a:ext cx="4191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坚持使用独立测试集验证模型效果，杜绝数据泄露带来的虚假指标，确保评估结果真实反映模型的泛化能力。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6096000" y="5270500"/>
            <a:ext cx="5334000" cy="1270000"/>
          </a:xfrm>
          <a:prstGeom prst="roundRect">
            <a:avLst>
              <a:gd name="adj" fmla="val 12000"/>
            </a:avLst>
          </a:prstGeom>
          <a:solidFill>
            <a:srgbClr val="1E293B">
              <a:alpha val="80000"/>
            </a:srgbClr>
          </a:solidFill>
          <a:ln w="12700" cmpd="sng" cap="flat">
            <a:solidFill>
              <a:srgbClr val="4FD1C5">
                <a:alpha val="80000"/>
              </a:srgbClr>
            </a:solidFill>
            <a:prstDash val="solid"/>
            <a:round/>
          </a:ln>
          <a:effectLst>
            <a:outerShdw dir="2700000" dist="50800" blurRad="152400" algn="tl">
              <a:srgbClr val="000000">
                <a:alpha val="30000"/>
              </a:srgbClr>
            </a:outerShdw>
          </a:effectLst>
        </p:spPr>
        <p:txBody>
          <a:bodyPr anchor="ctr" rtlCol="false" vert="horz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6350000" y="5524500"/>
            <a:ext cx="406400" cy="406400"/>
          </a:xfrm>
          <a:prstGeom prst="rect">
            <a:avLst/>
          </a:prstGeom>
        </p:spPr>
      </p:pic>
      <p:sp>
        <p:nvSpPr>
          <p:cNvPr name="AutoShape 15" id="15"/>
          <p:cNvSpPr/>
          <p:nvPr/>
        </p:nvSpPr>
        <p:spPr>
          <a:xfrm rot="0" flipH="false" flipV="false">
            <a:off x="6985000" y="5461000"/>
            <a:ext cx="419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1F5F9"/>
                </a:solidFill>
                <a:latin typeface="Noto Sans SC"/>
                <a:ea typeface="Noto Sans SC"/>
                <a:cs typeface="Noto Sans SC"/>
                <a:sym typeface="Noto Sans SC"/>
              </a:rPr>
              <a:t>打造可解释的可信模型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985000" y="5842000"/>
            <a:ext cx="4191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拒绝“黑箱”决策，让推理逻辑透明可追溯，增强业务信任并为迭代提供依据。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2C3E50">
              <a:alpha val="100000"/>
            </a:srgbClr>
          </a:solidFill>
          <a:ln cmpd="sng" cap="flat">
            <a:solidFill>
              <a:srgbClr val="192837">
                <a:alpha val="100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05 总结与展望</a:t>
            </a:r>
            <a:endParaRPr lang="en-US" sz="1100"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2"/>
          <a:srcRect l="9090" r="9090" t="0" b="0"/>
          <a:stretch>
            <a:fillRect/>
          </a:stretch>
        </p:blipFill>
        <p:spPr>
          <a:xfrm rot="0" flipH="false" flipV="false">
            <a:off x="762000" y="1778000"/>
            <a:ext cx="4064000" cy="2794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5" id="5"/>
          <p:cNvSpPr/>
          <p:nvPr/>
        </p:nvSpPr>
        <p:spPr>
          <a:xfrm rot="0" flipH="false" flipV="false">
            <a:off x="762000" y="4699000"/>
            <a:ext cx="4064000" cy="165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E2E8F0"/>
                </a:solidFill>
                <a:latin typeface="Noto Sans SC"/>
                <a:ea typeface="Noto Sans SC"/>
                <a:cs typeface="Noto Sans SC"/>
                <a:sym typeface="Noto Sans SC"/>
              </a:rPr>
              <a:t>未来的教育科技将突破单一工具的局限，迈向全场景、个性化的智能学习生态。通过数据积累、模型进化与系统功能的深度融合，我们致力于打造真正懂学生、能陪伴的AI学习伙伴，让技术温暖教育，让成长更高效。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5588000" y="1778000"/>
            <a:ext cx="5842000" cy="1524000"/>
          </a:xfrm>
          <a:prstGeom prst="roundRect">
            <a:avLst>
              <a:gd name="adj" fmla="val 0"/>
            </a:avLst>
          </a:prstGeom>
          <a:solidFill>
            <a:srgbClr val="34495E">
              <a:alpha val="100000"/>
            </a:srgbClr>
          </a:solidFill>
          <a:ln w="12700" cmpd="sng" cap="flat">
            <a:solidFill>
              <a:srgbClr val="3498DB">
                <a:alpha val="100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5842000" y="2032000"/>
            <a:ext cx="457200" cy="457200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 rot="0" flipH="false" flipV="false">
            <a:off x="6477000" y="2057400"/>
            <a:ext cx="482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01 数据线 · 多元拓展与迭代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6477000" y="2540000"/>
            <a:ext cx="4699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横向拓展至物理、化学等全学科场景，打破单一领域限制；纵向建立错例反馈闭环，以真实学习数据驱动模型持续优化。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5588000" y="3556000"/>
            <a:ext cx="5842000" cy="1524000"/>
          </a:xfrm>
          <a:prstGeom prst="roundRect">
            <a:avLst>
              <a:gd name="adj" fmla="val 0"/>
            </a:avLst>
          </a:prstGeom>
          <a:solidFill>
            <a:srgbClr val="34495E">
              <a:alpha val="100000"/>
            </a:srgbClr>
          </a:solidFill>
          <a:ln w="12700" cmpd="sng" cap="flat">
            <a:solidFill>
              <a:srgbClr val="3498DB">
                <a:alpha val="100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5842000" y="3810000"/>
            <a:ext cx="457200" cy="457200"/>
          </a:xfrm>
          <a:prstGeom prst="rect">
            <a:avLst/>
          </a:prstGeom>
        </p:spPr>
      </p:pic>
      <p:sp>
        <p:nvSpPr>
          <p:cNvPr name="AutoShape 12" id="12"/>
          <p:cNvSpPr/>
          <p:nvPr/>
        </p:nvSpPr>
        <p:spPr>
          <a:xfrm rot="0" flipH="false" flipV="false">
            <a:off x="6477000" y="3835400"/>
            <a:ext cx="482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02 模型线 · 深度智能进化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6477000" y="4318000"/>
            <a:ext cx="4699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融合学科知识图谱构建精细化特征，引入更强预训练模型作为语义编码器，大幅提升对复杂题目语境与深层逻辑的理解能力。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5588000" y="5270500"/>
            <a:ext cx="5842000" cy="1270000"/>
          </a:xfrm>
          <a:prstGeom prst="roundRect">
            <a:avLst>
              <a:gd name="adj" fmla="val 0"/>
            </a:avLst>
          </a:prstGeom>
          <a:solidFill>
            <a:srgbClr val="34495E">
              <a:alpha val="100000"/>
            </a:srgbClr>
          </a:solidFill>
          <a:ln w="12700" cmpd="sng" cap="flat">
            <a:solidFill>
              <a:srgbClr val="3498DB">
                <a:alpha val="100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5842000" y="5461000"/>
            <a:ext cx="457200" cy="457200"/>
          </a:xfrm>
          <a:prstGeom prst="rect">
            <a:avLst/>
          </a:prstGeom>
        </p:spPr>
      </p:pic>
      <p:sp>
        <p:nvSpPr>
          <p:cNvPr name="AutoShape 16" id="16"/>
          <p:cNvSpPr/>
          <p:nvPr/>
        </p:nvSpPr>
        <p:spPr>
          <a:xfrm rot="0" flipH="false" flipV="false">
            <a:off x="6477000" y="5486400"/>
            <a:ext cx="482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03 系统线 · 全场景学习伴侣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6477000" y="5905500"/>
            <a:ext cx="4699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新增语音评测、作文批改等功能，升级为贯穿课前、课中、课后的全流程智能伙伴。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3200" y="540000"/>
            <a:ext cx="2232000" cy="306000"/>
          </a:xfrm>
          <a:prstGeom prst="round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300" b="1">
                <a:solidFill>
                  <a:srgbClr val="7FD8FF"/>
                </a:solidFill>
                <a:latin typeface="微软雅黑"/>
              </a:rPr>
              <a:t>05 总结与展望 · 功能愿景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3200" y="1116000"/>
            <a:ext cx="10656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F2A44"/>
                </a:solidFill>
                <a:latin typeface="微软雅黑"/>
              </a:rPr>
              <a:t>从“读题划词”到全链路学习伴侣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3200" y="1800000"/>
            <a:ext cx="10656000" cy="39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40485C"/>
                </a:solidFill>
                <a:latin typeface="微软雅黑"/>
              </a:rPr>
              <a:t>四个未来功能，沿同一条“采集—标注—训练—评估”流水线逐步补全，与已有的关键词提取、读题划词共用同一套系统。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3200" y="2520000"/>
            <a:ext cx="5148000" cy="1584000"/>
          </a:xfrm>
          <a:prstGeom prst="roundRect">
            <a:avLst/>
          </a:prstGeom>
          <a:solidFill>
            <a:srgbClr val="1F2A44"/>
          </a:solidFill>
          <a:ln w="12700">
            <a:solidFill>
              <a:srgbClr val="2E6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0" rIns="216000" tIns="144000"/>
          <a:lstStyle/>
          <a:p>
            <a:pPr algn="ctr"/>
            <a:r>
              <a:rPr sz="1600" b="1">
                <a:solidFill>
                  <a:srgbClr val="7FD8FF"/>
                </a:solidFill>
                <a:latin typeface="微软雅黑"/>
              </a:rPr>
              <a:t>01 语音评测</a:t>
            </a:r>
          </a:p>
          <a:p>
            <a:pPr>
              <a:spcBef>
                <a:spcPts val="600"/>
              </a:spcBef>
            </a:pPr>
            <a:r>
              <a:rPr sz="1200" b="0">
                <a:solidFill>
                  <a:srgbClr val="C7D2E6"/>
                </a:solidFill>
                <a:latin typeface="微软雅黑"/>
              </a:rPr>
              <a:t>朗读与口语即时打分，读得对不对、准不准，开口就知道，补齐“会读”环节的反馈。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999" y="2520000"/>
            <a:ext cx="5148000" cy="1584000"/>
          </a:xfrm>
          <a:prstGeom prst="roundRect">
            <a:avLst/>
          </a:prstGeom>
          <a:solidFill>
            <a:srgbClr val="1F2A44"/>
          </a:solidFill>
          <a:ln w="12700">
            <a:solidFill>
              <a:srgbClr val="2E6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0" rIns="216000" tIns="144000"/>
          <a:lstStyle/>
          <a:p>
            <a:pPr algn="ctr"/>
            <a:r>
              <a:rPr sz="1600" b="1">
                <a:solidFill>
                  <a:srgbClr val="7FD8FF"/>
                </a:solidFill>
                <a:latin typeface="微软雅黑"/>
              </a:rPr>
              <a:t>02 语病分析</a:t>
            </a:r>
          </a:p>
          <a:p>
            <a:pPr>
              <a:spcBef>
                <a:spcPts val="600"/>
              </a:spcBef>
            </a:pPr>
            <a:r>
              <a:rPr sz="1200" b="0">
                <a:solidFill>
                  <a:srgbClr val="C7D2E6"/>
                </a:solidFill>
                <a:latin typeface="微软雅黑"/>
              </a:rPr>
              <a:t>作文与作答文本逐句挑毛病，把“句子不通、用词不当”具体指出来并给出改法。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3200" y="4320000"/>
            <a:ext cx="5148000" cy="1584000"/>
          </a:xfrm>
          <a:prstGeom prst="roundRect">
            <a:avLst/>
          </a:prstGeom>
          <a:solidFill>
            <a:srgbClr val="1F2A44"/>
          </a:solidFill>
          <a:ln w="12700">
            <a:solidFill>
              <a:srgbClr val="2E6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0" rIns="216000" tIns="144000"/>
          <a:lstStyle/>
          <a:p>
            <a:pPr algn="ctr"/>
            <a:r>
              <a:rPr sz="1600" b="1">
                <a:solidFill>
                  <a:srgbClr val="7FD8FF"/>
                </a:solidFill>
                <a:latin typeface="微软雅黑"/>
              </a:rPr>
              <a:t>03 变式与干预</a:t>
            </a:r>
          </a:p>
          <a:p>
            <a:pPr>
              <a:spcBef>
                <a:spcPts val="600"/>
              </a:spcBef>
            </a:pPr>
            <a:r>
              <a:rPr sz="1200" b="0">
                <a:solidFill>
                  <a:srgbClr val="C7D2E6"/>
                </a:solidFill>
                <a:latin typeface="微软雅黑"/>
              </a:rPr>
              <a:t>错题自动生成同考点变式题，哪里薄弱就针对性再练，形成“错—练—会”闭环。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999" y="4320000"/>
            <a:ext cx="5148000" cy="1584000"/>
          </a:xfrm>
          <a:prstGeom prst="roundRect">
            <a:avLst/>
          </a:prstGeom>
          <a:solidFill>
            <a:srgbClr val="1F2A44"/>
          </a:solidFill>
          <a:ln w="12700">
            <a:solidFill>
              <a:srgbClr val="2E6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0" rIns="216000" tIns="144000"/>
          <a:lstStyle/>
          <a:p>
            <a:pPr algn="ctr"/>
            <a:r>
              <a:rPr sz="1600" b="1">
                <a:solidFill>
                  <a:srgbClr val="7FD8FF"/>
                </a:solidFill>
                <a:latin typeface="微软雅黑"/>
              </a:rPr>
              <a:t>04 OCR 采集</a:t>
            </a:r>
          </a:p>
          <a:p>
            <a:pPr>
              <a:spcBef>
                <a:spcPts val="600"/>
              </a:spcBef>
            </a:pPr>
            <a:r>
              <a:rPr sz="1200" b="0">
                <a:solidFill>
                  <a:srgbClr val="C7D2E6"/>
                </a:solidFill>
                <a:latin typeface="微软雅黑"/>
              </a:rPr>
              <a:t>拍照即可录入试卷与纸质题目，题库扩充不再靠手敲，输入链路全打通。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200" y="6012000"/>
            <a:ext cx="10656000" cy="39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0">
                <a:solidFill>
                  <a:srgbClr val="40485C"/>
                </a:solidFill>
                <a:latin typeface="微软雅黑"/>
              </a:rPr>
              <a:t>让系统从“帮学生抓重点”走向“陪学生把学习过程走完整”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Thanks For Your Attention !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YWZhYTM2ZGQ3N2Y2ZjBmNjU1MWE5Y2VhMDU5MWM3ODgifQ=="/>
</p:tagLst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529</Words>
  <Application>Microsoft Office PowerPoint</Application>
  <PresentationFormat>宽屏</PresentationFormat>
  <Paragraphs>50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3" baseType="lpstr">
      <vt:lpstr>等线</vt:lpstr>
      <vt:lpstr>Arial</vt:lpstr>
      <vt:lpstr>Calibri</vt:lpstr>
      <vt:lpstr>Calibri Light</vt:lpstr>
      <vt:lpstr>Office 主题​​</vt:lpstr>
      <vt:lpstr>中文题目 English Title</vt:lpstr>
      <vt:lpstr>目 录  Content</vt:lpstr>
      <vt:lpstr>项目简介</vt:lpstr>
      <vt:lpstr>PowerPoint 演示文稿</vt:lpstr>
      <vt:lpstr>项目实现流程</vt:lpstr>
      <vt:lpstr>主要结论和效果</vt:lpstr>
      <vt:lpstr>项目收获和未来展望</vt:lpstr>
      <vt:lpstr>Thanks For Your Attention 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中文题目 English Title</dc:title>
  <dc:creator>嵇子扬</dc:creator>
  <cp:lastModifiedBy>嵇子扬</cp:lastModifiedBy>
  <cp:revision>16</cp:revision>
  <dcterms:created xsi:type="dcterms:W3CDTF">2022-01-21T03:20:00Z</dcterms:created>
  <dcterms:modified xsi:type="dcterms:W3CDTF">2026-08-15T04:05:36Z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1B4290FF3F874219B4088CEC34DF5807_13</vt:lpwstr>
  </property>
  <property fmtid="{D5CDD505-2E9C-101B-9397-08002B2CF9AE}" pid="3" name="KSOProductBuildVer">
    <vt:lpwstr>2052-12.1.0.21915</vt:lpwstr>
  </property>
</Properties>
</file>